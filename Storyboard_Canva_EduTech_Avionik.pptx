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IMAGE PROMPT (Midjourney / Leonardo / Flux)
Two podcast hosts seated at sleek dark studio desk facing each other, wide establishing shot, professional broadcast setup with condenser microphones, moody dark background with subtle blue accent lighting, cinematic 16:9, photorealistic --ar 16:9
---
Gantikan gambar storyboard di atas dengan gambar AI yang dijana menggunakan prompt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IMAGE PROMPT (Midjourney / Leonardo / Flux)
Medium close-up portrait of confident male aviation expert being interviewed, relaxed professional expression, dark moody podcast studio, condenser microphone in foreground, warm key light from left, looking slightly off-camera, photorealistic --ar 16:9
---
Gantikan gambar storyboard di atas dengan gambar AI yang dijana menggunakan prompt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IMAGE PROMPT (Midjourney / Leonardo / Flux)
Podcast interview medium shot with picture-in-picture insert showing aviation VR flight simulator cockpit training, dark cinematic studio lighting, technology education, blue accent lighting, photorealistic --ar 16:9
---
Gantikan gambar storyboard di atas dengan gambar AI yang dijana menggunakan prompt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IMAGE PROMPT (Midjourney / Leonardo / Flux)
Male podcast guest in dark studio with holographic data visualization panel showing bar charts and statistics floating beside him, professional broadcast lighting, aviation education technology, photorealistic --ar 16:9
---
Gantikan gambar storyboard di atas dengan gambar AI yang dijana menggunakan prompt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IMAGE PROMPT (Midjourney / Leonardo / Flux)
Extreme close-up of male podcast guest speaking candidly, serious reflective expression, intimate dark studio lighting, shallow depth of field, condenser microphone partially visible, authentic emotional moment, photorealistic --ar 16:9
---
Gantikan gambar storyboard di atas dengan gambar AI yang dijana menggunakan prompt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IMAGE PROMPT (Midjourney / Leonardo / Flux)
Podcast interview with large screen share showing aviation training simulator dashboard with bar charts, speaker visible in corner PIP window, dark professional studio, blue accent lighting, photorealistic --ar 16:9
---
Gantikan gambar storyboard di atas dengan gambar AI yang dijana menggunakan prompt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IMAGE PROMPT (Midjourney / Leonardo / Flux)
Medium close-up of aviation expert delivering final inspirational message, warm amber golden studio lighting, sincere confident expression, dark background with soft orange bokeh, microphone in frame, motivational atmosphere, photorealistic --ar 16:9
---
Gantikan gambar storyboard di atas dengan gambar AI yang dijana menggunakan prompt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IMAGE PROMPT (Midjourney / Leonardo / Flux)
Two podcast hosts at dark studio desk wrapping up episode, both smiling warmly at camera, wide shot showing full professional broadcast set, subscribe CTA overlay, cinematic lighting, photorealistic --ar 16:9
---
Gantikan gambar storyboard di atas dengan gambar AI yang dijana menggunakan prompt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164592"/>
            <a:ext cx="1005840" cy="384048"/>
          </a:xfrm>
          <a:prstGeom prst="roundRect">
            <a:avLst>
              <a:gd name="adj" fmla="val 11905"/>
            </a:avLst>
          </a:prstGeom>
          <a:solidFill>
            <a:srgbClr val="1F3864"/>
          </a:solidFill>
          <a:ln w="12700">
            <a:solidFill>
              <a:srgbClr val="2E5496"/>
            </a:solidFill>
            <a:prstDash val="solid"/>
          </a:ln>
        </p:spPr>
      </p:sp>
      <p:sp>
        <p:nvSpPr>
          <p:cNvPr id="3" name="Text 1"/>
          <p:cNvSpPr/>
          <p:nvPr/>
        </p:nvSpPr>
        <p:spPr>
          <a:xfrm>
            <a:off x="274320" y="164592"/>
            <a:ext cx="1005840" cy="384048"/>
          </a:xfrm>
          <a:prstGeom prst="rect">
            <a:avLst/>
          </a:prstGeom>
          <a:noFill/>
          <a:ln/>
        </p:spPr>
        <p:txBody>
          <a:bodyPr wrap="square" lIns="0" tIns="0" rIns="0" bIns="0" rtlCol="0" anchor="ctr"/>
          <a:lstStyle/>
          <a:p>
            <a:pPr algn="ctr" indent="0" marL="0">
              <a:buNone/>
            </a:pPr>
            <a:r>
              <a:rPr lang="en-US" sz="1000" b="1" dirty="0">
                <a:solidFill>
                  <a:srgbClr val="FFFFFF"/>
                </a:solidFill>
              </a:rPr>
              <a:t>SCENE 01</a:t>
            </a:r>
            <a:endParaRPr lang="en-US" sz="1000" dirty="0"/>
          </a:p>
        </p:txBody>
      </p:sp>
      <p:sp>
        <p:nvSpPr>
          <p:cNvPr id="4" name="Text 2"/>
          <p:cNvSpPr/>
          <p:nvPr/>
        </p:nvSpPr>
        <p:spPr>
          <a:xfrm>
            <a:off x="1417320" y="164592"/>
            <a:ext cx="5029200" cy="384048"/>
          </a:xfrm>
          <a:prstGeom prst="rect">
            <a:avLst/>
          </a:prstGeom>
          <a:noFill/>
          <a:ln/>
        </p:spPr>
        <p:txBody>
          <a:bodyPr wrap="square" lIns="0" tIns="0" rIns="0" bIns="0" rtlCol="0" anchor="ctr"/>
          <a:lstStyle/>
          <a:p>
            <a:pPr indent="0" marL="0">
              <a:buNone/>
            </a:pPr>
            <a:r>
              <a:rPr lang="en-US" sz="1800" b="1" dirty="0">
                <a:solidFill>
                  <a:srgbClr val="E8EDF3"/>
                </a:solidFill>
              </a:rPr>
              <a:t>Intro</a:t>
            </a:r>
            <a:endParaRPr lang="en-US" sz="1800" dirty="0"/>
          </a:p>
        </p:txBody>
      </p:sp>
      <p:sp>
        <p:nvSpPr>
          <p:cNvPr id="5" name="Shape 3"/>
          <p:cNvSpPr/>
          <p:nvPr/>
        </p:nvSpPr>
        <p:spPr>
          <a:xfrm>
            <a:off x="7772400" y="164592"/>
            <a:ext cx="1097280" cy="384048"/>
          </a:xfrm>
          <a:prstGeom prst="roundRect">
            <a:avLst>
              <a:gd name="adj" fmla="val 11905"/>
            </a:avLst>
          </a:prstGeom>
          <a:solidFill>
            <a:srgbClr val="161B22"/>
          </a:solidFill>
          <a:ln w="12700">
            <a:solidFill>
              <a:srgbClr val="2E5496"/>
            </a:solidFill>
            <a:prstDash val="solid"/>
          </a:ln>
        </p:spPr>
      </p:sp>
      <p:sp>
        <p:nvSpPr>
          <p:cNvPr id="6" name="Text 4"/>
          <p:cNvSpPr/>
          <p:nvPr/>
        </p:nvSpPr>
        <p:spPr>
          <a:xfrm>
            <a:off x="7772400" y="164592"/>
            <a:ext cx="1097280" cy="384048"/>
          </a:xfrm>
          <a:prstGeom prst="rect">
            <a:avLst/>
          </a:prstGeom>
          <a:noFill/>
          <a:ln/>
        </p:spPr>
        <p:txBody>
          <a:bodyPr wrap="square" lIns="0" tIns="0" rIns="0" bIns="0" rtlCol="0" anchor="ctr"/>
          <a:lstStyle/>
          <a:p>
            <a:pPr algn="ctr" indent="0" marL="0">
              <a:buNone/>
            </a:pPr>
            <a:r>
              <a:rPr lang="en-US" sz="900" dirty="0">
                <a:solidFill>
                  <a:srgbClr val="8B9BAD"/>
                </a:solidFill>
              </a:rPr>
              <a:t>0:00 – 3:00</a:t>
            </a:r>
            <a:endParaRPr lang="en-US" sz="900" dirty="0"/>
          </a:p>
        </p:txBody>
      </p:sp>
      <p:pic>
        <p:nvPicPr>
          <p:cNvPr id="7" name="Image 0" descr="preencoded.png">    </p:cNvPr>
          <p:cNvPicPr>
            <a:picLocks noChangeAspect="1"/>
          </p:cNvPicPr>
          <p:nvPr/>
        </p:nvPicPr>
        <p:blipFill>
          <a:blip r:embed="rId1"/>
          <a:stretch>
            <a:fillRect/>
          </a:stretch>
        </p:blipFill>
        <p:spPr>
          <a:xfrm>
            <a:off x="274320" y="658368"/>
            <a:ext cx="5120640" cy="2880360"/>
          </a:xfrm>
          <a:prstGeom prst="rect">
            <a:avLst/>
          </a:prstGeom>
          <a:effectLst>
            <a:outerShdw sx="100000" sy="100000" kx="0" ky="0" algn="bl" rotWithShape="0" blurRad="101600" dist="38100" dir="2700000">
              <a:srgbClr val="000000">
                <a:alpha val="30000"/>
              </a:srgbClr>
            </a:outerShdw>
          </a:effectLst>
        </p:spPr>
      </p:pic>
      <p:sp>
        <p:nvSpPr>
          <p:cNvPr id="8" name="Text 5"/>
          <p:cNvSpPr/>
          <p:nvPr/>
        </p:nvSpPr>
        <p:spPr>
          <a:xfrm>
            <a:off x="5623560" y="658368"/>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SAIZ SYOT</a:t>
            </a:r>
            <a:endParaRPr lang="en-US" sz="750" dirty="0"/>
          </a:p>
        </p:txBody>
      </p:sp>
      <p:sp>
        <p:nvSpPr>
          <p:cNvPr id="9" name="Text 6"/>
          <p:cNvSpPr/>
          <p:nvPr/>
        </p:nvSpPr>
        <p:spPr>
          <a:xfrm>
            <a:off x="5623560" y="841248"/>
            <a:ext cx="3246120" cy="274320"/>
          </a:xfrm>
          <a:prstGeom prst="rect">
            <a:avLst/>
          </a:prstGeom>
          <a:noFill/>
          <a:ln/>
        </p:spPr>
        <p:txBody>
          <a:bodyPr wrap="square" lIns="0" tIns="0" rIns="0" bIns="0" rtlCol="0" anchor="ctr"/>
          <a:lstStyle/>
          <a:p>
            <a:pPr indent="0" marL="0">
              <a:buNone/>
            </a:pPr>
            <a:r>
              <a:rPr lang="en-US" sz="1000" dirty="0">
                <a:solidFill>
                  <a:srgbClr val="E8EDF3"/>
                </a:solidFill>
              </a:rPr>
              <a:t>Wide Shot (WS) · Establishing</a:t>
            </a:r>
            <a:endParaRPr lang="en-US" sz="1000" dirty="0"/>
          </a:p>
        </p:txBody>
      </p:sp>
      <p:sp>
        <p:nvSpPr>
          <p:cNvPr id="10" name="Text 7"/>
          <p:cNvSpPr/>
          <p:nvPr/>
        </p:nvSpPr>
        <p:spPr>
          <a:xfrm>
            <a:off x="5623560" y="1133856"/>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SUDUT KAMERA</a:t>
            </a:r>
            <a:endParaRPr lang="en-US" sz="750" dirty="0"/>
          </a:p>
        </p:txBody>
      </p:sp>
      <p:sp>
        <p:nvSpPr>
          <p:cNvPr id="11" name="Text 8"/>
          <p:cNvSpPr/>
          <p:nvPr/>
        </p:nvSpPr>
        <p:spPr>
          <a:xfrm>
            <a:off x="5623560" y="1316736"/>
            <a:ext cx="3246120" cy="274320"/>
          </a:xfrm>
          <a:prstGeom prst="rect">
            <a:avLst/>
          </a:prstGeom>
          <a:noFill/>
          <a:ln/>
        </p:spPr>
        <p:txBody>
          <a:bodyPr wrap="square" lIns="0" tIns="0" rIns="0" bIns="0" rtlCol="0" anchor="ctr"/>
          <a:lstStyle/>
          <a:p>
            <a:pPr indent="0" marL="0">
              <a:buNone/>
            </a:pPr>
            <a:r>
              <a:rPr lang="en-US" sz="1000" dirty="0">
                <a:solidFill>
                  <a:srgbClr val="E8EDF3"/>
                </a:solidFill>
              </a:rPr>
              <a:t>Aras mata, sedikit tinggi</a:t>
            </a:r>
            <a:endParaRPr lang="en-US" sz="1000" dirty="0"/>
          </a:p>
        </p:txBody>
      </p:sp>
      <p:sp>
        <p:nvSpPr>
          <p:cNvPr id="12" name="Text 9"/>
          <p:cNvSpPr/>
          <p:nvPr/>
        </p:nvSpPr>
        <p:spPr>
          <a:xfrm>
            <a:off x="5623560" y="1609344"/>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PERGERAKAN</a:t>
            </a:r>
            <a:endParaRPr lang="en-US" sz="750" dirty="0"/>
          </a:p>
        </p:txBody>
      </p:sp>
      <p:sp>
        <p:nvSpPr>
          <p:cNvPr id="13" name="Text 10"/>
          <p:cNvSpPr/>
          <p:nvPr/>
        </p:nvSpPr>
        <p:spPr>
          <a:xfrm>
            <a:off x="5623560" y="1792224"/>
            <a:ext cx="3246120" cy="274320"/>
          </a:xfrm>
          <a:prstGeom prst="rect">
            <a:avLst/>
          </a:prstGeom>
          <a:noFill/>
          <a:ln/>
        </p:spPr>
        <p:txBody>
          <a:bodyPr wrap="square" lIns="0" tIns="0" rIns="0" bIns="0" rtlCol="0" anchor="ctr"/>
          <a:lstStyle/>
          <a:p>
            <a:pPr indent="0" marL="0">
              <a:buNone/>
            </a:pPr>
            <a:r>
              <a:rPr lang="en-US" sz="1000" dirty="0">
                <a:solidFill>
                  <a:srgbClr val="E8EDF3"/>
                </a:solidFill>
              </a:rPr>
              <a:t>Push-in perlahan (dolly-in)</a:t>
            </a:r>
            <a:endParaRPr lang="en-US" sz="1000" dirty="0"/>
          </a:p>
        </p:txBody>
      </p:sp>
      <p:sp>
        <p:nvSpPr>
          <p:cNvPr id="14" name="Text 11"/>
          <p:cNvSpPr/>
          <p:nvPr/>
        </p:nvSpPr>
        <p:spPr>
          <a:xfrm>
            <a:off x="5623560" y="2084832"/>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KOMPOSISI</a:t>
            </a:r>
            <a:endParaRPr lang="en-US" sz="750" dirty="0"/>
          </a:p>
        </p:txBody>
      </p:sp>
      <p:sp>
        <p:nvSpPr>
          <p:cNvPr id="15" name="Text 12"/>
          <p:cNvSpPr/>
          <p:nvPr/>
        </p:nvSpPr>
        <p:spPr>
          <a:xfrm>
            <a:off x="5623560" y="2267712"/>
            <a:ext cx="3246120" cy="1024128"/>
          </a:xfrm>
          <a:prstGeom prst="rect">
            <a:avLst/>
          </a:prstGeom>
          <a:noFill/>
          <a:ln/>
        </p:spPr>
        <p:txBody>
          <a:bodyPr wrap="square" lIns="0" tIns="0" rIns="0" bIns="0" rtlCol="0" anchor="ctr"/>
          <a:lstStyle/>
          <a:p>
            <a:pPr marL="342900" indent="-342900">
              <a:buSzPct val="100000"/>
              <a:buChar char="•"/>
            </a:pPr>
            <a:r>
              <a:rPr lang="en-US" sz="900" dirty="0">
                <a:solidFill>
                  <a:srgbClr val="8B9BAD"/>
                </a:solidFill>
              </a:rPr>
              <a:t>Simetri — kedua-dua hos seimbang</a:t>
            </a:r>
            <a:endParaRPr lang="en-US" sz="900" dirty="0"/>
          </a:p>
          <a:p>
            <a:pPr marL="342900" indent="-342900">
              <a:buSzPct val="100000"/>
              <a:buChar char="•"/>
            </a:pPr>
            <a:r>
              <a:rPr lang="en-US" sz="900" dirty="0">
                <a:solidFill>
                  <a:srgbClr val="8B9BAD"/>
                </a:solidFill>
              </a:rPr>
              <a:t>Panel logo di latar belakang</a:t>
            </a:r>
            <a:endParaRPr lang="en-US" sz="900" dirty="0"/>
          </a:p>
          <a:p>
            <a:pPr marL="342900" indent="-342900">
              <a:buSzPct val="100000"/>
              <a:buChar char="•"/>
            </a:pPr>
            <a:r>
              <a:rPr lang="en-US" sz="900" dirty="0">
                <a:solidFill>
                  <a:srgbClr val="8B9BAD"/>
                </a:solidFill>
              </a:rPr>
              <a:t>Lower-third tajuk masuk</a:t>
            </a:r>
            <a:endParaRPr lang="en-US" sz="900" dirty="0"/>
          </a:p>
          <a:p>
            <a:pPr marL="342900" indent="-342900">
              <a:buSzPct val="100000"/>
              <a:buChar char="•"/>
            </a:pPr>
            <a:r>
              <a:rPr lang="en-US" sz="900" dirty="0">
                <a:solidFill>
                  <a:srgbClr val="8B9BAD"/>
                </a:solidFill>
              </a:rPr>
              <a:t>Jingle + motion graphic</a:t>
            </a:r>
            <a:endParaRPr lang="en-US" sz="900" dirty="0"/>
          </a:p>
        </p:txBody>
      </p:sp>
      <p:sp>
        <p:nvSpPr>
          <p:cNvPr id="16" name="Text 13"/>
          <p:cNvSpPr/>
          <p:nvPr/>
        </p:nvSpPr>
        <p:spPr>
          <a:xfrm>
            <a:off x="5623560" y="3337560"/>
            <a:ext cx="3246120" cy="201168"/>
          </a:xfrm>
          <a:prstGeom prst="rect">
            <a:avLst/>
          </a:prstGeom>
          <a:noFill/>
          <a:ln/>
        </p:spPr>
        <p:txBody>
          <a:bodyPr wrap="square" lIns="0" tIns="0" rIns="0" bIns="0" rtlCol="0" anchor="ctr"/>
          <a:lstStyle/>
          <a:p>
            <a:pPr indent="0" marL="0">
              <a:buNone/>
            </a:pPr>
            <a:r>
              <a:rPr lang="en-US" sz="800" i="1" dirty="0">
                <a:solidFill>
                  <a:srgbClr val="2E5496"/>
                </a:solidFill>
              </a:rPr>
              <a:t>WS  ·  Simetri  ·  Push-in  ·  Lower-third</a:t>
            </a:r>
            <a:endParaRPr lang="en-US" sz="800" dirty="0"/>
          </a:p>
        </p:txBody>
      </p:sp>
      <p:sp>
        <p:nvSpPr>
          <p:cNvPr id="17" name="Shape 14"/>
          <p:cNvSpPr/>
          <p:nvPr/>
        </p:nvSpPr>
        <p:spPr>
          <a:xfrm>
            <a:off x="274320" y="3630168"/>
            <a:ext cx="8595360" cy="0"/>
          </a:xfrm>
          <a:prstGeom prst="line">
            <a:avLst/>
          </a:prstGeom>
          <a:noFill/>
          <a:ln w="9525">
            <a:solidFill>
              <a:srgbClr val="2E5496"/>
            </a:solidFill>
            <a:prstDash val="solid"/>
          </a:ln>
        </p:spPr>
      </p:sp>
      <p:sp>
        <p:nvSpPr>
          <p:cNvPr id="18" name="Text 15"/>
          <p:cNvSpPr/>
          <p:nvPr/>
        </p:nvSpPr>
        <p:spPr>
          <a:xfrm>
            <a:off x="274320" y="3739896"/>
            <a:ext cx="1828800" cy="201168"/>
          </a:xfrm>
          <a:prstGeom prst="rect">
            <a:avLst/>
          </a:prstGeom>
          <a:noFill/>
          <a:ln/>
        </p:spPr>
        <p:txBody>
          <a:bodyPr wrap="square" lIns="0" tIns="0" rIns="0" bIns="0" rtlCol="0" anchor="ctr"/>
          <a:lstStyle/>
          <a:p>
            <a:pPr indent="0" marL="0">
              <a:buNone/>
            </a:pPr>
            <a:r>
              <a:rPr lang="en-US" sz="750" b="1" spc="200" kern="0" dirty="0">
                <a:solidFill>
                  <a:srgbClr val="F0A829"/>
                </a:solidFill>
              </a:rPr>
              <a:t>SKRIP DIALOG</a:t>
            </a:r>
            <a:endParaRPr lang="en-US" sz="750" dirty="0"/>
          </a:p>
        </p:txBody>
      </p:sp>
      <p:sp>
        <p:nvSpPr>
          <p:cNvPr id="19" name="Text 16"/>
          <p:cNvSpPr/>
          <p:nvPr/>
        </p:nvSpPr>
        <p:spPr>
          <a:xfrm>
            <a:off x="274320" y="3968496"/>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0" name="Text 17"/>
          <p:cNvSpPr/>
          <p:nvPr/>
        </p:nvSpPr>
        <p:spPr>
          <a:xfrm>
            <a:off x="36576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Selamat datang ke EduTech Avionik — podcast yang membongkar bagaimana teknologi pendidikan sedang mengubah cara kita melatih generasi juruteknik dan jurutera avionik. Ketika kokpit pesawat menjadi semakin pintar, adakah cara kita mengajar avionik juga turut berubah?</a:t>
            </a:r>
            <a:endParaRPr lang="en-US" sz="850" dirty="0"/>
          </a:p>
        </p:txBody>
      </p:sp>
      <p:sp>
        <p:nvSpPr>
          <p:cNvPr id="21" name="Text 18"/>
          <p:cNvSpPr/>
          <p:nvPr/>
        </p:nvSpPr>
        <p:spPr>
          <a:xfrm>
            <a:off x="274320" y="4572000"/>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2" name="Text 19"/>
          <p:cNvSpPr/>
          <p:nvPr/>
        </p:nvSpPr>
        <p:spPr>
          <a:xfrm>
            <a:off x="36576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Sepanjang 60 minit akan datang, kita menyelami trend terkini, kelebihan sebenar, cabaran yang jujur, dan nasihat praktikal. Mari kita mulakan.</a:t>
            </a:r>
            <a:endParaRPr lang="en-US" sz="850" dirty="0"/>
          </a:p>
        </p:txBody>
      </p:sp>
      <p:sp>
        <p:nvSpPr>
          <p:cNvPr id="23" name="Text 20"/>
          <p:cNvSpPr/>
          <p:nvPr/>
        </p:nvSpPr>
        <p:spPr>
          <a:xfrm>
            <a:off x="4754880" y="3968496"/>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4" name="Text 21"/>
          <p:cNvSpPr/>
          <p:nvPr/>
        </p:nvSpPr>
        <p:spPr>
          <a:xfrm>
            <a:off x="484632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Terima kasih kerana menjemput saya. Ini topik yang sangat dekat di hati saya, jadi saya teruja untuk berkongsi.</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164592"/>
            <a:ext cx="1005840" cy="384048"/>
          </a:xfrm>
          <a:prstGeom prst="roundRect">
            <a:avLst>
              <a:gd name="adj" fmla="val 11905"/>
            </a:avLst>
          </a:prstGeom>
          <a:solidFill>
            <a:srgbClr val="1F3864"/>
          </a:solidFill>
          <a:ln w="12700">
            <a:solidFill>
              <a:srgbClr val="2E5496"/>
            </a:solidFill>
            <a:prstDash val="solid"/>
          </a:ln>
        </p:spPr>
      </p:sp>
      <p:sp>
        <p:nvSpPr>
          <p:cNvPr id="3" name="Text 1"/>
          <p:cNvSpPr/>
          <p:nvPr/>
        </p:nvSpPr>
        <p:spPr>
          <a:xfrm>
            <a:off x="274320" y="164592"/>
            <a:ext cx="1005840" cy="384048"/>
          </a:xfrm>
          <a:prstGeom prst="rect">
            <a:avLst/>
          </a:prstGeom>
          <a:noFill/>
          <a:ln/>
        </p:spPr>
        <p:txBody>
          <a:bodyPr wrap="square" lIns="0" tIns="0" rIns="0" bIns="0" rtlCol="0" anchor="ctr"/>
          <a:lstStyle/>
          <a:p>
            <a:pPr algn="ctr" indent="0" marL="0">
              <a:buNone/>
            </a:pPr>
            <a:r>
              <a:rPr lang="en-US" sz="1000" b="1" dirty="0">
                <a:solidFill>
                  <a:srgbClr val="FFFFFF"/>
                </a:solidFill>
              </a:rPr>
              <a:t>SCENE 02</a:t>
            </a:r>
            <a:endParaRPr lang="en-US" sz="1000" dirty="0"/>
          </a:p>
        </p:txBody>
      </p:sp>
      <p:sp>
        <p:nvSpPr>
          <p:cNvPr id="4" name="Text 2"/>
          <p:cNvSpPr/>
          <p:nvPr/>
        </p:nvSpPr>
        <p:spPr>
          <a:xfrm>
            <a:off x="1417320" y="164592"/>
            <a:ext cx="5029200" cy="384048"/>
          </a:xfrm>
          <a:prstGeom prst="rect">
            <a:avLst/>
          </a:prstGeom>
          <a:noFill/>
          <a:ln/>
        </p:spPr>
        <p:txBody>
          <a:bodyPr wrap="square" lIns="0" tIns="0" rIns="0" bIns="0" rtlCol="0" anchor="ctr"/>
          <a:lstStyle/>
          <a:p>
            <a:pPr indent="0" marL="0">
              <a:buNone/>
            </a:pPr>
            <a:r>
              <a:rPr lang="en-US" sz="1800" b="1" dirty="0">
                <a:solidFill>
                  <a:srgbClr val="E8EDF3"/>
                </a:solidFill>
              </a:rPr>
              <a:t>Pengenalan Pakar</a:t>
            </a:r>
            <a:endParaRPr lang="en-US" sz="1800" dirty="0"/>
          </a:p>
        </p:txBody>
      </p:sp>
      <p:sp>
        <p:nvSpPr>
          <p:cNvPr id="5" name="Shape 3"/>
          <p:cNvSpPr/>
          <p:nvPr/>
        </p:nvSpPr>
        <p:spPr>
          <a:xfrm>
            <a:off x="7772400" y="164592"/>
            <a:ext cx="1097280" cy="384048"/>
          </a:xfrm>
          <a:prstGeom prst="roundRect">
            <a:avLst>
              <a:gd name="adj" fmla="val 11905"/>
            </a:avLst>
          </a:prstGeom>
          <a:solidFill>
            <a:srgbClr val="161B22"/>
          </a:solidFill>
          <a:ln w="12700">
            <a:solidFill>
              <a:srgbClr val="2E5496"/>
            </a:solidFill>
            <a:prstDash val="solid"/>
          </a:ln>
        </p:spPr>
      </p:sp>
      <p:sp>
        <p:nvSpPr>
          <p:cNvPr id="6" name="Text 4"/>
          <p:cNvSpPr/>
          <p:nvPr/>
        </p:nvSpPr>
        <p:spPr>
          <a:xfrm>
            <a:off x="7772400" y="164592"/>
            <a:ext cx="1097280" cy="384048"/>
          </a:xfrm>
          <a:prstGeom prst="rect">
            <a:avLst/>
          </a:prstGeom>
          <a:noFill/>
          <a:ln/>
        </p:spPr>
        <p:txBody>
          <a:bodyPr wrap="square" lIns="0" tIns="0" rIns="0" bIns="0" rtlCol="0" anchor="ctr"/>
          <a:lstStyle/>
          <a:p>
            <a:pPr algn="ctr" indent="0" marL="0">
              <a:buNone/>
            </a:pPr>
            <a:r>
              <a:rPr lang="en-US" sz="900" dirty="0">
                <a:solidFill>
                  <a:srgbClr val="8B9BAD"/>
                </a:solidFill>
              </a:rPr>
              <a:t>3:00 – 12:00</a:t>
            </a:r>
            <a:endParaRPr lang="en-US" sz="900" dirty="0"/>
          </a:p>
        </p:txBody>
      </p:sp>
      <p:pic>
        <p:nvPicPr>
          <p:cNvPr id="7" name="Image 0" descr="preencoded.png">    </p:cNvPr>
          <p:cNvPicPr>
            <a:picLocks noChangeAspect="1"/>
          </p:cNvPicPr>
          <p:nvPr/>
        </p:nvPicPr>
        <p:blipFill>
          <a:blip r:embed="rId1"/>
          <a:stretch>
            <a:fillRect/>
          </a:stretch>
        </p:blipFill>
        <p:spPr>
          <a:xfrm>
            <a:off x="274320" y="658368"/>
            <a:ext cx="5120640" cy="2880360"/>
          </a:xfrm>
          <a:prstGeom prst="rect">
            <a:avLst/>
          </a:prstGeom>
          <a:effectLst>
            <a:outerShdw sx="100000" sy="100000" kx="0" ky="0" algn="bl" rotWithShape="0" blurRad="101600" dist="38100" dir="2700000">
              <a:srgbClr val="000000">
                <a:alpha val="30000"/>
              </a:srgbClr>
            </a:outerShdw>
          </a:effectLst>
        </p:spPr>
      </p:pic>
      <p:sp>
        <p:nvSpPr>
          <p:cNvPr id="8" name="Text 5"/>
          <p:cNvSpPr/>
          <p:nvPr/>
        </p:nvSpPr>
        <p:spPr>
          <a:xfrm>
            <a:off x="5623560" y="658368"/>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SAIZ SYOT</a:t>
            </a:r>
            <a:endParaRPr lang="en-US" sz="750" dirty="0"/>
          </a:p>
        </p:txBody>
      </p:sp>
      <p:sp>
        <p:nvSpPr>
          <p:cNvPr id="9" name="Text 6"/>
          <p:cNvSpPr/>
          <p:nvPr/>
        </p:nvSpPr>
        <p:spPr>
          <a:xfrm>
            <a:off x="5623560" y="841248"/>
            <a:ext cx="3246120" cy="274320"/>
          </a:xfrm>
          <a:prstGeom prst="rect">
            <a:avLst/>
          </a:prstGeom>
          <a:noFill/>
          <a:ln/>
        </p:spPr>
        <p:txBody>
          <a:bodyPr wrap="square" lIns="0" tIns="0" rIns="0" bIns="0" rtlCol="0" anchor="ctr"/>
          <a:lstStyle/>
          <a:p>
            <a:pPr indent="0" marL="0">
              <a:buNone/>
            </a:pPr>
            <a:r>
              <a:rPr lang="en-US" sz="1000" dirty="0">
                <a:solidFill>
                  <a:srgbClr val="E8EDF3"/>
                </a:solidFill>
              </a:rPr>
              <a:t>Medium two-shot → MCU Pakar</a:t>
            </a:r>
            <a:endParaRPr lang="en-US" sz="1000" dirty="0"/>
          </a:p>
        </p:txBody>
      </p:sp>
      <p:sp>
        <p:nvSpPr>
          <p:cNvPr id="10" name="Text 7"/>
          <p:cNvSpPr/>
          <p:nvPr/>
        </p:nvSpPr>
        <p:spPr>
          <a:xfrm>
            <a:off x="5623560" y="1133856"/>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SUDUT KAMERA</a:t>
            </a:r>
            <a:endParaRPr lang="en-US" sz="750" dirty="0"/>
          </a:p>
        </p:txBody>
      </p:sp>
      <p:sp>
        <p:nvSpPr>
          <p:cNvPr id="11" name="Text 8"/>
          <p:cNvSpPr/>
          <p:nvPr/>
        </p:nvSpPr>
        <p:spPr>
          <a:xfrm>
            <a:off x="5623560" y="1316736"/>
            <a:ext cx="3246120" cy="274320"/>
          </a:xfrm>
          <a:prstGeom prst="rect">
            <a:avLst/>
          </a:prstGeom>
          <a:noFill/>
          <a:ln/>
        </p:spPr>
        <p:txBody>
          <a:bodyPr wrap="square" lIns="0" tIns="0" rIns="0" bIns="0" rtlCol="0" anchor="ctr"/>
          <a:lstStyle/>
          <a:p>
            <a:pPr indent="0" marL="0">
              <a:buNone/>
            </a:pPr>
            <a:r>
              <a:rPr lang="en-US" sz="1000" dirty="0">
                <a:solidFill>
                  <a:srgbClr val="E8EDF3"/>
                </a:solidFill>
              </a:rPr>
              <a:t>Aras mata</a:t>
            </a:r>
            <a:endParaRPr lang="en-US" sz="1000" dirty="0"/>
          </a:p>
        </p:txBody>
      </p:sp>
      <p:sp>
        <p:nvSpPr>
          <p:cNvPr id="12" name="Text 9"/>
          <p:cNvSpPr/>
          <p:nvPr/>
        </p:nvSpPr>
        <p:spPr>
          <a:xfrm>
            <a:off x="5623560" y="1609344"/>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PERGERAKAN</a:t>
            </a:r>
            <a:endParaRPr lang="en-US" sz="750" dirty="0"/>
          </a:p>
        </p:txBody>
      </p:sp>
      <p:sp>
        <p:nvSpPr>
          <p:cNvPr id="13" name="Text 10"/>
          <p:cNvSpPr/>
          <p:nvPr/>
        </p:nvSpPr>
        <p:spPr>
          <a:xfrm>
            <a:off x="5623560" y="1792224"/>
            <a:ext cx="3246120" cy="274320"/>
          </a:xfrm>
          <a:prstGeom prst="rect">
            <a:avLst/>
          </a:prstGeom>
          <a:noFill/>
          <a:ln/>
        </p:spPr>
        <p:txBody>
          <a:bodyPr wrap="square" lIns="0" tIns="0" rIns="0" bIns="0" rtlCol="0" anchor="ctr"/>
          <a:lstStyle/>
          <a:p>
            <a:pPr indent="0" marL="0">
              <a:buNone/>
            </a:pPr>
            <a:r>
              <a:rPr lang="en-US" sz="1000" dirty="0">
                <a:solidFill>
                  <a:srgbClr val="E8EDF3"/>
                </a:solidFill>
              </a:rPr>
              <a:t>Cut two-shot ke MCU bila pakar bercakap</a:t>
            </a:r>
            <a:endParaRPr lang="en-US" sz="1000" dirty="0"/>
          </a:p>
        </p:txBody>
      </p:sp>
      <p:sp>
        <p:nvSpPr>
          <p:cNvPr id="14" name="Text 11"/>
          <p:cNvSpPr/>
          <p:nvPr/>
        </p:nvSpPr>
        <p:spPr>
          <a:xfrm>
            <a:off x="5623560" y="2084832"/>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KOMPOSISI</a:t>
            </a:r>
            <a:endParaRPr lang="en-US" sz="750" dirty="0"/>
          </a:p>
        </p:txBody>
      </p:sp>
      <p:sp>
        <p:nvSpPr>
          <p:cNvPr id="15" name="Text 12"/>
          <p:cNvSpPr/>
          <p:nvPr/>
        </p:nvSpPr>
        <p:spPr>
          <a:xfrm>
            <a:off x="5623560" y="2267712"/>
            <a:ext cx="3246120" cy="1024128"/>
          </a:xfrm>
          <a:prstGeom prst="rect">
            <a:avLst/>
          </a:prstGeom>
          <a:noFill/>
          <a:ln/>
        </p:spPr>
        <p:txBody>
          <a:bodyPr wrap="square" lIns="0" tIns="0" rIns="0" bIns="0" rtlCol="0" anchor="ctr"/>
          <a:lstStyle/>
          <a:p>
            <a:pPr marL="342900" indent="-342900">
              <a:buSzPct val="100000"/>
              <a:buChar char="•"/>
            </a:pPr>
            <a:r>
              <a:rPr lang="en-US" sz="900" dirty="0">
                <a:solidFill>
                  <a:srgbClr val="8B9BAD"/>
                </a:solidFill>
              </a:rPr>
              <a:t>Rule of thirds — pakar pada garis 1/3</a:t>
            </a:r>
            <a:endParaRPr lang="en-US" sz="900" dirty="0"/>
          </a:p>
          <a:p>
            <a:pPr marL="342900" indent="-342900">
              <a:buSzPct val="100000"/>
              <a:buChar char="•"/>
            </a:pPr>
            <a:r>
              <a:rPr lang="en-US" sz="900" dirty="0">
                <a:solidFill>
                  <a:srgbClr val="8B9BAD"/>
                </a:solidFill>
              </a:rPr>
              <a:t>Looking room di hadapan pandangan</a:t>
            </a:r>
            <a:endParaRPr lang="en-US" sz="900" dirty="0"/>
          </a:p>
          <a:p>
            <a:pPr marL="342900" indent="-342900">
              <a:buSzPct val="100000"/>
              <a:buChar char="•"/>
            </a:pPr>
            <a:r>
              <a:rPr lang="en-US" sz="900" dirty="0">
                <a:solidFill>
                  <a:srgbClr val="8B9BAD"/>
                </a:solidFill>
              </a:rPr>
              <a:t>Pakar pandang ke moderator (off-camera)</a:t>
            </a:r>
            <a:endParaRPr lang="en-US" sz="900" dirty="0"/>
          </a:p>
          <a:p>
            <a:pPr marL="342900" indent="-342900">
              <a:buSzPct val="100000"/>
              <a:buChar char="•"/>
            </a:pPr>
            <a:r>
              <a:rPr lang="en-US" sz="900" dirty="0">
                <a:solidFill>
                  <a:srgbClr val="8B9BAD"/>
                </a:solidFill>
              </a:rPr>
              <a:t>Shallow depth of field</a:t>
            </a:r>
            <a:endParaRPr lang="en-US" sz="900" dirty="0"/>
          </a:p>
        </p:txBody>
      </p:sp>
      <p:sp>
        <p:nvSpPr>
          <p:cNvPr id="16" name="Text 13"/>
          <p:cNvSpPr/>
          <p:nvPr/>
        </p:nvSpPr>
        <p:spPr>
          <a:xfrm>
            <a:off x="5623560" y="3337560"/>
            <a:ext cx="3246120" cy="201168"/>
          </a:xfrm>
          <a:prstGeom prst="rect">
            <a:avLst/>
          </a:prstGeom>
          <a:noFill/>
          <a:ln/>
        </p:spPr>
        <p:txBody>
          <a:bodyPr wrap="square" lIns="0" tIns="0" rIns="0" bIns="0" rtlCol="0" anchor="ctr"/>
          <a:lstStyle/>
          <a:p>
            <a:pPr indent="0" marL="0">
              <a:buNone/>
            </a:pPr>
            <a:r>
              <a:rPr lang="en-US" sz="800" i="1" dirty="0">
                <a:solidFill>
                  <a:srgbClr val="2E5496"/>
                </a:solidFill>
              </a:rPr>
              <a:t>Two-shot  ·  MCU  ·  Rule of thirds  ·  Shallow DOF</a:t>
            </a:r>
            <a:endParaRPr lang="en-US" sz="800" dirty="0"/>
          </a:p>
        </p:txBody>
      </p:sp>
      <p:sp>
        <p:nvSpPr>
          <p:cNvPr id="17" name="Shape 14"/>
          <p:cNvSpPr/>
          <p:nvPr/>
        </p:nvSpPr>
        <p:spPr>
          <a:xfrm>
            <a:off x="274320" y="3630168"/>
            <a:ext cx="8595360" cy="0"/>
          </a:xfrm>
          <a:prstGeom prst="line">
            <a:avLst/>
          </a:prstGeom>
          <a:noFill/>
          <a:ln w="9525">
            <a:solidFill>
              <a:srgbClr val="2E5496"/>
            </a:solidFill>
            <a:prstDash val="solid"/>
          </a:ln>
        </p:spPr>
      </p:sp>
      <p:sp>
        <p:nvSpPr>
          <p:cNvPr id="18" name="Text 15"/>
          <p:cNvSpPr/>
          <p:nvPr/>
        </p:nvSpPr>
        <p:spPr>
          <a:xfrm>
            <a:off x="274320" y="3739896"/>
            <a:ext cx="1828800" cy="201168"/>
          </a:xfrm>
          <a:prstGeom prst="rect">
            <a:avLst/>
          </a:prstGeom>
          <a:noFill/>
          <a:ln/>
        </p:spPr>
        <p:txBody>
          <a:bodyPr wrap="square" lIns="0" tIns="0" rIns="0" bIns="0" rtlCol="0" anchor="ctr"/>
          <a:lstStyle/>
          <a:p>
            <a:pPr indent="0" marL="0">
              <a:buNone/>
            </a:pPr>
            <a:r>
              <a:rPr lang="en-US" sz="750" b="1" spc="200" kern="0" dirty="0">
                <a:solidFill>
                  <a:srgbClr val="F0A829"/>
                </a:solidFill>
              </a:rPr>
              <a:t>SKRIP DIALOG</a:t>
            </a:r>
            <a:endParaRPr lang="en-US" sz="750" dirty="0"/>
          </a:p>
        </p:txBody>
      </p:sp>
      <p:sp>
        <p:nvSpPr>
          <p:cNvPr id="19" name="Text 16"/>
          <p:cNvSpPr/>
          <p:nvPr/>
        </p:nvSpPr>
        <p:spPr>
          <a:xfrm>
            <a:off x="274320" y="3968496"/>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0" name="Text 17"/>
          <p:cNvSpPr/>
          <p:nvPr/>
        </p:nvSpPr>
        <p:spPr>
          <a:xfrm>
            <a:off x="36576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Boleh kongsikan latar belakang dan bagaimana perjalanan anda bermula dalam bidang avionik?</a:t>
            </a:r>
            <a:endParaRPr lang="en-US" sz="850" dirty="0"/>
          </a:p>
        </p:txBody>
      </p:sp>
      <p:sp>
        <p:nvSpPr>
          <p:cNvPr id="21" name="Text 18"/>
          <p:cNvSpPr/>
          <p:nvPr/>
        </p:nvSpPr>
        <p:spPr>
          <a:xfrm>
            <a:off x="274320" y="4572000"/>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2" name="Text 19"/>
          <p:cNvSpPr/>
          <p:nvPr/>
        </p:nvSpPr>
        <p:spPr>
          <a:xfrm>
            <a:off x="36576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Apa perubahan paling besar yang anda saksikan dalam cara avionik diajar?</a:t>
            </a:r>
            <a:endParaRPr lang="en-US" sz="850" dirty="0"/>
          </a:p>
        </p:txBody>
      </p:sp>
      <p:sp>
        <p:nvSpPr>
          <p:cNvPr id="23" name="Text 20"/>
          <p:cNvSpPr/>
          <p:nvPr/>
        </p:nvSpPr>
        <p:spPr>
          <a:xfrm>
            <a:off x="4754880" y="3968496"/>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4" name="Text 21"/>
          <p:cNvSpPr/>
          <p:nvPr/>
        </p:nvSpPr>
        <p:spPr>
          <a:xfrm>
            <a:off x="484632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Saya bermula sebagai juruteknik di lapangan — tangan kotor dengan pendawaian dan unit avionik. Selepas beberapa tahun, saya lebih banyak melatih juruteknik baharu berbanding membaiki pesawat, dan itulah yang membawa saya ke sini.</a:t>
            </a:r>
            <a:endParaRPr lang="en-US" sz="850" dirty="0"/>
          </a:p>
        </p:txBody>
      </p:sp>
      <p:sp>
        <p:nvSpPr>
          <p:cNvPr id="25" name="Text 22"/>
          <p:cNvSpPr/>
          <p:nvPr/>
        </p:nvSpPr>
        <p:spPr>
          <a:xfrm>
            <a:off x="4754880" y="4572000"/>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6" name="Text 23"/>
          <p:cNvSpPr/>
          <p:nvPr/>
        </p:nvSpPr>
        <p:spPr>
          <a:xfrm>
            <a:off x="484632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Peralihan daripada kertas kepada digital. Hari ini pelajar boleh berlatih prosedur berpuluh kali dalam simulator, tanpa risiko dan tanpa kos bahan — itu anjakan yang besar.</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164592"/>
            <a:ext cx="1005840" cy="384048"/>
          </a:xfrm>
          <a:prstGeom prst="roundRect">
            <a:avLst>
              <a:gd name="adj" fmla="val 11905"/>
            </a:avLst>
          </a:prstGeom>
          <a:solidFill>
            <a:srgbClr val="1F3864"/>
          </a:solidFill>
          <a:ln w="12700">
            <a:solidFill>
              <a:srgbClr val="2E5496"/>
            </a:solidFill>
            <a:prstDash val="solid"/>
          </a:ln>
        </p:spPr>
      </p:sp>
      <p:sp>
        <p:nvSpPr>
          <p:cNvPr id="3" name="Text 1"/>
          <p:cNvSpPr/>
          <p:nvPr/>
        </p:nvSpPr>
        <p:spPr>
          <a:xfrm>
            <a:off x="274320" y="164592"/>
            <a:ext cx="1005840" cy="384048"/>
          </a:xfrm>
          <a:prstGeom prst="rect">
            <a:avLst/>
          </a:prstGeom>
          <a:noFill/>
          <a:ln/>
        </p:spPr>
        <p:txBody>
          <a:bodyPr wrap="square" lIns="0" tIns="0" rIns="0" bIns="0" rtlCol="0" anchor="ctr"/>
          <a:lstStyle/>
          <a:p>
            <a:pPr algn="ctr" indent="0" marL="0">
              <a:buNone/>
            </a:pPr>
            <a:r>
              <a:rPr lang="en-US" sz="1000" b="1" dirty="0">
                <a:solidFill>
                  <a:srgbClr val="FFFFFF"/>
                </a:solidFill>
              </a:rPr>
              <a:t>SCENE 03</a:t>
            </a:r>
            <a:endParaRPr lang="en-US" sz="1000" dirty="0"/>
          </a:p>
        </p:txBody>
      </p:sp>
      <p:sp>
        <p:nvSpPr>
          <p:cNvPr id="4" name="Text 2"/>
          <p:cNvSpPr/>
          <p:nvPr/>
        </p:nvSpPr>
        <p:spPr>
          <a:xfrm>
            <a:off x="1417320" y="164592"/>
            <a:ext cx="5029200" cy="384048"/>
          </a:xfrm>
          <a:prstGeom prst="rect">
            <a:avLst/>
          </a:prstGeom>
          <a:noFill/>
          <a:ln/>
        </p:spPr>
        <p:txBody>
          <a:bodyPr wrap="square" lIns="0" tIns="0" rIns="0" bIns="0" rtlCol="0" anchor="ctr"/>
          <a:lstStyle/>
          <a:p>
            <a:pPr indent="0" marL="0">
              <a:buNone/>
            </a:pPr>
            <a:r>
              <a:rPr lang="en-US" sz="1800" b="1" dirty="0">
                <a:solidFill>
                  <a:srgbClr val="E8EDF3"/>
                </a:solidFill>
              </a:rPr>
              <a:t>Perkembangan Terkini</a:t>
            </a:r>
            <a:endParaRPr lang="en-US" sz="1800" dirty="0"/>
          </a:p>
        </p:txBody>
      </p:sp>
      <p:sp>
        <p:nvSpPr>
          <p:cNvPr id="5" name="Shape 3"/>
          <p:cNvSpPr/>
          <p:nvPr/>
        </p:nvSpPr>
        <p:spPr>
          <a:xfrm>
            <a:off x="7772400" y="164592"/>
            <a:ext cx="1097280" cy="384048"/>
          </a:xfrm>
          <a:prstGeom prst="roundRect">
            <a:avLst>
              <a:gd name="adj" fmla="val 11905"/>
            </a:avLst>
          </a:prstGeom>
          <a:solidFill>
            <a:srgbClr val="161B22"/>
          </a:solidFill>
          <a:ln w="12700">
            <a:solidFill>
              <a:srgbClr val="2E5496"/>
            </a:solidFill>
            <a:prstDash val="solid"/>
          </a:ln>
        </p:spPr>
      </p:sp>
      <p:sp>
        <p:nvSpPr>
          <p:cNvPr id="6" name="Text 4"/>
          <p:cNvSpPr/>
          <p:nvPr/>
        </p:nvSpPr>
        <p:spPr>
          <a:xfrm>
            <a:off x="7772400" y="164592"/>
            <a:ext cx="1097280" cy="384048"/>
          </a:xfrm>
          <a:prstGeom prst="rect">
            <a:avLst/>
          </a:prstGeom>
          <a:noFill/>
          <a:ln/>
        </p:spPr>
        <p:txBody>
          <a:bodyPr wrap="square" lIns="0" tIns="0" rIns="0" bIns="0" rtlCol="0" anchor="ctr"/>
          <a:lstStyle/>
          <a:p>
            <a:pPr algn="ctr" indent="0" marL="0">
              <a:buNone/>
            </a:pPr>
            <a:r>
              <a:rPr lang="en-US" sz="900" dirty="0">
                <a:solidFill>
                  <a:srgbClr val="8B9BAD"/>
                </a:solidFill>
              </a:rPr>
              <a:t>12:00 – 22:00</a:t>
            </a:r>
            <a:endParaRPr lang="en-US" sz="900" dirty="0"/>
          </a:p>
        </p:txBody>
      </p:sp>
      <p:pic>
        <p:nvPicPr>
          <p:cNvPr id="7" name="Image 0" descr="preencoded.png">    </p:cNvPr>
          <p:cNvPicPr>
            <a:picLocks noChangeAspect="1"/>
          </p:cNvPicPr>
          <p:nvPr/>
        </p:nvPicPr>
        <p:blipFill>
          <a:blip r:embed="rId1"/>
          <a:stretch>
            <a:fillRect/>
          </a:stretch>
        </p:blipFill>
        <p:spPr>
          <a:xfrm>
            <a:off x="274320" y="658368"/>
            <a:ext cx="5120640" cy="2880360"/>
          </a:xfrm>
          <a:prstGeom prst="rect">
            <a:avLst/>
          </a:prstGeom>
          <a:effectLst>
            <a:outerShdw sx="100000" sy="100000" kx="0" ky="0" algn="bl" rotWithShape="0" blurRad="101600" dist="38100" dir="2700000">
              <a:srgbClr val="000000">
                <a:alpha val="30000"/>
              </a:srgbClr>
            </a:outerShdw>
          </a:effectLst>
        </p:spPr>
      </p:pic>
      <p:sp>
        <p:nvSpPr>
          <p:cNvPr id="8" name="Text 5"/>
          <p:cNvSpPr/>
          <p:nvPr/>
        </p:nvSpPr>
        <p:spPr>
          <a:xfrm>
            <a:off x="5623560" y="658368"/>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SAIZ SYOT</a:t>
            </a:r>
            <a:endParaRPr lang="en-US" sz="750" dirty="0"/>
          </a:p>
        </p:txBody>
      </p:sp>
      <p:sp>
        <p:nvSpPr>
          <p:cNvPr id="9" name="Text 6"/>
          <p:cNvSpPr/>
          <p:nvPr/>
        </p:nvSpPr>
        <p:spPr>
          <a:xfrm>
            <a:off x="5623560" y="841248"/>
            <a:ext cx="3246120" cy="274320"/>
          </a:xfrm>
          <a:prstGeom prst="rect">
            <a:avLst/>
          </a:prstGeom>
          <a:noFill/>
          <a:ln/>
        </p:spPr>
        <p:txBody>
          <a:bodyPr wrap="square" lIns="0" tIns="0" rIns="0" bIns="0" rtlCol="0" anchor="ctr"/>
          <a:lstStyle/>
          <a:p>
            <a:pPr indent="0" marL="0">
              <a:buNone/>
            </a:pPr>
            <a:r>
              <a:rPr lang="en-US" sz="1000" dirty="0">
                <a:solidFill>
                  <a:srgbClr val="E8EDF3"/>
                </a:solidFill>
              </a:rPr>
              <a:t>Medium Shot + Insert B-Roll</a:t>
            </a:r>
            <a:endParaRPr lang="en-US" sz="1000" dirty="0"/>
          </a:p>
        </p:txBody>
      </p:sp>
      <p:sp>
        <p:nvSpPr>
          <p:cNvPr id="10" name="Text 7"/>
          <p:cNvSpPr/>
          <p:nvPr/>
        </p:nvSpPr>
        <p:spPr>
          <a:xfrm>
            <a:off x="5623560" y="1133856"/>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SUDUT KAMERA</a:t>
            </a:r>
            <a:endParaRPr lang="en-US" sz="750" dirty="0"/>
          </a:p>
        </p:txBody>
      </p:sp>
      <p:sp>
        <p:nvSpPr>
          <p:cNvPr id="11" name="Text 8"/>
          <p:cNvSpPr/>
          <p:nvPr/>
        </p:nvSpPr>
        <p:spPr>
          <a:xfrm>
            <a:off x="5623560" y="1316736"/>
            <a:ext cx="3246120" cy="274320"/>
          </a:xfrm>
          <a:prstGeom prst="rect">
            <a:avLst/>
          </a:prstGeom>
          <a:noFill/>
          <a:ln/>
        </p:spPr>
        <p:txBody>
          <a:bodyPr wrap="square" lIns="0" tIns="0" rIns="0" bIns="0" rtlCol="0" anchor="ctr"/>
          <a:lstStyle/>
          <a:p>
            <a:pPr indent="0" marL="0">
              <a:buNone/>
            </a:pPr>
            <a:r>
              <a:rPr lang="en-US" sz="1000" dirty="0">
                <a:solidFill>
                  <a:srgbClr val="E8EDF3"/>
                </a:solidFill>
              </a:rPr>
              <a:t>Aras mata; B-roll pelbagai sudut</a:t>
            </a:r>
            <a:endParaRPr lang="en-US" sz="1000" dirty="0"/>
          </a:p>
        </p:txBody>
      </p:sp>
      <p:sp>
        <p:nvSpPr>
          <p:cNvPr id="12" name="Text 9"/>
          <p:cNvSpPr/>
          <p:nvPr/>
        </p:nvSpPr>
        <p:spPr>
          <a:xfrm>
            <a:off x="5623560" y="1609344"/>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PERGERAKAN</a:t>
            </a:r>
            <a:endParaRPr lang="en-US" sz="750" dirty="0"/>
          </a:p>
        </p:txBody>
      </p:sp>
      <p:sp>
        <p:nvSpPr>
          <p:cNvPr id="13" name="Text 10"/>
          <p:cNvSpPr/>
          <p:nvPr/>
        </p:nvSpPr>
        <p:spPr>
          <a:xfrm>
            <a:off x="5623560" y="1792224"/>
            <a:ext cx="3246120" cy="274320"/>
          </a:xfrm>
          <a:prstGeom prst="rect">
            <a:avLst/>
          </a:prstGeom>
          <a:noFill/>
          <a:ln/>
        </p:spPr>
        <p:txBody>
          <a:bodyPr wrap="square" lIns="0" tIns="0" rIns="0" bIns="0" rtlCol="0" anchor="ctr"/>
          <a:lstStyle/>
          <a:p>
            <a:pPr indent="0" marL="0">
              <a:buNone/>
            </a:pPr>
            <a:r>
              <a:rPr lang="en-US" sz="1000" dirty="0">
                <a:solidFill>
                  <a:srgbClr val="E8EDF3"/>
                </a:solidFill>
              </a:rPr>
              <a:t>Cutaway ke B-roll demo teknologi</a:t>
            </a:r>
            <a:endParaRPr lang="en-US" sz="1000" dirty="0"/>
          </a:p>
        </p:txBody>
      </p:sp>
      <p:sp>
        <p:nvSpPr>
          <p:cNvPr id="14" name="Text 11"/>
          <p:cNvSpPr/>
          <p:nvPr/>
        </p:nvSpPr>
        <p:spPr>
          <a:xfrm>
            <a:off x="5623560" y="2084832"/>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KOMPOSISI</a:t>
            </a:r>
            <a:endParaRPr lang="en-US" sz="750" dirty="0"/>
          </a:p>
        </p:txBody>
      </p:sp>
      <p:sp>
        <p:nvSpPr>
          <p:cNvPr id="15" name="Text 12"/>
          <p:cNvSpPr/>
          <p:nvPr/>
        </p:nvSpPr>
        <p:spPr>
          <a:xfrm>
            <a:off x="5623560" y="2267712"/>
            <a:ext cx="3246120" cy="1024128"/>
          </a:xfrm>
          <a:prstGeom prst="rect">
            <a:avLst/>
          </a:prstGeom>
          <a:noFill/>
          <a:ln/>
        </p:spPr>
        <p:txBody>
          <a:bodyPr wrap="square" lIns="0" tIns="0" rIns="0" bIns="0" rtlCol="0" anchor="ctr"/>
          <a:lstStyle/>
          <a:p>
            <a:pPr marL="342900" indent="-342900">
              <a:buSzPct val="100000"/>
              <a:buChar char="•"/>
            </a:pPr>
            <a:r>
              <a:rPr lang="en-US" sz="900" dirty="0">
                <a:solidFill>
                  <a:srgbClr val="8B9BAD"/>
                </a:solidFill>
              </a:rPr>
              <a:t>Talking head + insert teknologi</a:t>
            </a:r>
            <a:endParaRPr lang="en-US" sz="900" dirty="0"/>
          </a:p>
          <a:p>
            <a:pPr marL="342900" indent="-342900">
              <a:buSzPct val="100000"/>
              <a:buChar char="•"/>
            </a:pPr>
            <a:r>
              <a:rPr lang="en-US" sz="900" dirty="0">
                <a:solidFill>
                  <a:srgbClr val="8B9BAD"/>
                </a:solidFill>
              </a:rPr>
              <a:t>Potong penuh ke frame demo bila B-roll</a:t>
            </a:r>
            <a:endParaRPr lang="en-US" sz="900" dirty="0"/>
          </a:p>
          <a:p>
            <a:pPr marL="342900" indent="-342900">
              <a:buSzPct val="100000"/>
              <a:buChar char="•"/>
            </a:pPr>
            <a:r>
              <a:rPr lang="en-US" sz="900" dirty="0">
                <a:solidFill>
                  <a:srgbClr val="8B9BAD"/>
                </a:solidFill>
              </a:rPr>
              <a:t>Grafik istilah teknikal</a:t>
            </a:r>
            <a:endParaRPr lang="en-US" sz="900" dirty="0"/>
          </a:p>
          <a:p>
            <a:pPr marL="342900" indent="-342900">
              <a:buSzPct val="100000"/>
              <a:buChar char="•"/>
            </a:pPr>
            <a:r>
              <a:rPr lang="en-US" sz="900" dirty="0">
                <a:solidFill>
                  <a:srgbClr val="8B9BAD"/>
                </a:solidFill>
              </a:rPr>
              <a:t>Chapter marker di sini</a:t>
            </a:r>
            <a:endParaRPr lang="en-US" sz="900" dirty="0"/>
          </a:p>
        </p:txBody>
      </p:sp>
      <p:sp>
        <p:nvSpPr>
          <p:cNvPr id="16" name="Text 13"/>
          <p:cNvSpPr/>
          <p:nvPr/>
        </p:nvSpPr>
        <p:spPr>
          <a:xfrm>
            <a:off x="5623560" y="3337560"/>
            <a:ext cx="3246120" cy="201168"/>
          </a:xfrm>
          <a:prstGeom prst="rect">
            <a:avLst/>
          </a:prstGeom>
          <a:noFill/>
          <a:ln/>
        </p:spPr>
        <p:txBody>
          <a:bodyPr wrap="square" lIns="0" tIns="0" rIns="0" bIns="0" rtlCol="0" anchor="ctr"/>
          <a:lstStyle/>
          <a:p>
            <a:pPr indent="0" marL="0">
              <a:buNone/>
            </a:pPr>
            <a:r>
              <a:rPr lang="en-US" sz="800" i="1" dirty="0">
                <a:solidFill>
                  <a:srgbClr val="2E5496"/>
                </a:solidFill>
              </a:rPr>
              <a:t>Cutaway  ·  B-roll  ·  Chapter marker  ·  Grafik</a:t>
            </a:r>
            <a:endParaRPr lang="en-US" sz="800" dirty="0"/>
          </a:p>
        </p:txBody>
      </p:sp>
      <p:sp>
        <p:nvSpPr>
          <p:cNvPr id="17" name="Shape 14"/>
          <p:cNvSpPr/>
          <p:nvPr/>
        </p:nvSpPr>
        <p:spPr>
          <a:xfrm>
            <a:off x="274320" y="3630168"/>
            <a:ext cx="8595360" cy="0"/>
          </a:xfrm>
          <a:prstGeom prst="line">
            <a:avLst/>
          </a:prstGeom>
          <a:noFill/>
          <a:ln w="9525">
            <a:solidFill>
              <a:srgbClr val="2E5496"/>
            </a:solidFill>
            <a:prstDash val="solid"/>
          </a:ln>
        </p:spPr>
      </p:sp>
      <p:sp>
        <p:nvSpPr>
          <p:cNvPr id="18" name="Text 15"/>
          <p:cNvSpPr/>
          <p:nvPr/>
        </p:nvSpPr>
        <p:spPr>
          <a:xfrm>
            <a:off x="274320" y="3739896"/>
            <a:ext cx="1828800" cy="201168"/>
          </a:xfrm>
          <a:prstGeom prst="rect">
            <a:avLst/>
          </a:prstGeom>
          <a:noFill/>
          <a:ln/>
        </p:spPr>
        <p:txBody>
          <a:bodyPr wrap="square" lIns="0" tIns="0" rIns="0" bIns="0" rtlCol="0" anchor="ctr"/>
          <a:lstStyle/>
          <a:p>
            <a:pPr indent="0" marL="0">
              <a:buNone/>
            </a:pPr>
            <a:r>
              <a:rPr lang="en-US" sz="750" b="1" spc="200" kern="0" dirty="0">
                <a:solidFill>
                  <a:srgbClr val="F0A829"/>
                </a:solidFill>
              </a:rPr>
              <a:t>SKRIP DIALOG</a:t>
            </a:r>
            <a:endParaRPr lang="en-US" sz="750" dirty="0"/>
          </a:p>
        </p:txBody>
      </p:sp>
      <p:sp>
        <p:nvSpPr>
          <p:cNvPr id="19" name="Text 16"/>
          <p:cNvSpPr/>
          <p:nvPr/>
        </p:nvSpPr>
        <p:spPr>
          <a:xfrm>
            <a:off x="274320" y="3968496"/>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0" name="Text 17"/>
          <p:cNvSpPr/>
          <p:nvPr/>
        </p:nvSpPr>
        <p:spPr>
          <a:xfrm>
            <a:off x="36576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Apakah teknologi pendidikan paling penting yang sedang mengubah pengajaran avionik hari ini?</a:t>
            </a:r>
            <a:endParaRPr lang="en-US" sz="850" dirty="0"/>
          </a:p>
        </p:txBody>
      </p:sp>
      <p:sp>
        <p:nvSpPr>
          <p:cNvPr id="21" name="Text 18"/>
          <p:cNvSpPr/>
          <p:nvPr/>
        </p:nvSpPr>
        <p:spPr>
          <a:xfrm>
            <a:off x="274320" y="4572000"/>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2" name="Text 19"/>
          <p:cNvSpPr/>
          <p:nvPr/>
        </p:nvSpPr>
        <p:spPr>
          <a:xfrm>
            <a:off x="36576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Yang mana paling matang dan yang mana masih eksperimen?</a:t>
            </a:r>
            <a:endParaRPr lang="en-US" sz="850" dirty="0"/>
          </a:p>
        </p:txBody>
      </p:sp>
      <p:sp>
        <p:nvSpPr>
          <p:cNvPr id="23" name="Text 20"/>
          <p:cNvSpPr/>
          <p:nvPr/>
        </p:nvSpPr>
        <p:spPr>
          <a:xfrm>
            <a:off x="4754880" y="3968496"/>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4" name="Text 21"/>
          <p:cNvSpPr/>
          <p:nvPr/>
        </p:nvSpPr>
        <p:spPr>
          <a:xfrm>
            <a:off x="484632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Empat teknologi: simulator berasaskan komputer, realiti maya dan tambahan (VR/AR), digital twin sistem pesawat, dan tutor pintar berasaskan AI yang menyesuaikan latihan mengikut tahap pelajar.</a:t>
            </a:r>
            <a:endParaRPr lang="en-US" sz="850" dirty="0"/>
          </a:p>
        </p:txBody>
      </p:sp>
      <p:sp>
        <p:nvSpPr>
          <p:cNvPr id="25" name="Text 22"/>
          <p:cNvSpPr/>
          <p:nvPr/>
        </p:nvSpPr>
        <p:spPr>
          <a:xfrm>
            <a:off x="4754880" y="4572000"/>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6" name="Text 23"/>
          <p:cNvSpPr/>
          <p:nvPr/>
        </p:nvSpPr>
        <p:spPr>
          <a:xfrm>
            <a:off x="484632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Simulator sudah matang dan terbukti. AR sedang pesat matang. Tutor AI paling baharu — menjanjikan tetapi masih perlu diuji teliti.</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164592"/>
            <a:ext cx="1005840" cy="384048"/>
          </a:xfrm>
          <a:prstGeom prst="roundRect">
            <a:avLst>
              <a:gd name="adj" fmla="val 11905"/>
            </a:avLst>
          </a:prstGeom>
          <a:solidFill>
            <a:srgbClr val="1F3864"/>
          </a:solidFill>
          <a:ln w="12700">
            <a:solidFill>
              <a:srgbClr val="2E5496"/>
            </a:solidFill>
            <a:prstDash val="solid"/>
          </a:ln>
        </p:spPr>
      </p:sp>
      <p:sp>
        <p:nvSpPr>
          <p:cNvPr id="3" name="Text 1"/>
          <p:cNvSpPr/>
          <p:nvPr/>
        </p:nvSpPr>
        <p:spPr>
          <a:xfrm>
            <a:off x="274320" y="164592"/>
            <a:ext cx="1005840" cy="384048"/>
          </a:xfrm>
          <a:prstGeom prst="rect">
            <a:avLst/>
          </a:prstGeom>
          <a:noFill/>
          <a:ln/>
        </p:spPr>
        <p:txBody>
          <a:bodyPr wrap="square" lIns="0" tIns="0" rIns="0" bIns="0" rtlCol="0" anchor="ctr"/>
          <a:lstStyle/>
          <a:p>
            <a:pPr algn="ctr" indent="0" marL="0">
              <a:buNone/>
            </a:pPr>
            <a:r>
              <a:rPr lang="en-US" sz="1000" b="1" dirty="0">
                <a:solidFill>
                  <a:srgbClr val="FFFFFF"/>
                </a:solidFill>
              </a:rPr>
              <a:t>SCENE 04</a:t>
            </a:r>
            <a:endParaRPr lang="en-US" sz="1000" dirty="0"/>
          </a:p>
        </p:txBody>
      </p:sp>
      <p:sp>
        <p:nvSpPr>
          <p:cNvPr id="4" name="Text 2"/>
          <p:cNvSpPr/>
          <p:nvPr/>
        </p:nvSpPr>
        <p:spPr>
          <a:xfrm>
            <a:off x="1417320" y="164592"/>
            <a:ext cx="5029200" cy="384048"/>
          </a:xfrm>
          <a:prstGeom prst="rect">
            <a:avLst/>
          </a:prstGeom>
          <a:noFill/>
          <a:ln/>
        </p:spPr>
        <p:txBody>
          <a:bodyPr wrap="square" lIns="0" tIns="0" rIns="0" bIns="0" rtlCol="0" anchor="ctr"/>
          <a:lstStyle/>
          <a:p>
            <a:pPr indent="0" marL="0">
              <a:buNone/>
            </a:pPr>
            <a:r>
              <a:rPr lang="en-US" sz="1800" b="1" dirty="0">
                <a:solidFill>
                  <a:srgbClr val="E8EDF3"/>
                </a:solidFill>
              </a:rPr>
              <a:t>Kelebihan Teknologi</a:t>
            </a:r>
            <a:endParaRPr lang="en-US" sz="1800" dirty="0"/>
          </a:p>
        </p:txBody>
      </p:sp>
      <p:sp>
        <p:nvSpPr>
          <p:cNvPr id="5" name="Shape 3"/>
          <p:cNvSpPr/>
          <p:nvPr/>
        </p:nvSpPr>
        <p:spPr>
          <a:xfrm>
            <a:off x="7772400" y="164592"/>
            <a:ext cx="1097280" cy="384048"/>
          </a:xfrm>
          <a:prstGeom prst="roundRect">
            <a:avLst>
              <a:gd name="adj" fmla="val 11905"/>
            </a:avLst>
          </a:prstGeom>
          <a:solidFill>
            <a:srgbClr val="161B22"/>
          </a:solidFill>
          <a:ln w="12700">
            <a:solidFill>
              <a:srgbClr val="2E5496"/>
            </a:solidFill>
            <a:prstDash val="solid"/>
          </a:ln>
        </p:spPr>
      </p:sp>
      <p:sp>
        <p:nvSpPr>
          <p:cNvPr id="6" name="Text 4"/>
          <p:cNvSpPr/>
          <p:nvPr/>
        </p:nvSpPr>
        <p:spPr>
          <a:xfrm>
            <a:off x="7772400" y="164592"/>
            <a:ext cx="1097280" cy="384048"/>
          </a:xfrm>
          <a:prstGeom prst="rect">
            <a:avLst/>
          </a:prstGeom>
          <a:noFill/>
          <a:ln/>
        </p:spPr>
        <p:txBody>
          <a:bodyPr wrap="square" lIns="0" tIns="0" rIns="0" bIns="0" rtlCol="0" anchor="ctr"/>
          <a:lstStyle/>
          <a:p>
            <a:pPr algn="ctr" indent="0" marL="0">
              <a:buNone/>
            </a:pPr>
            <a:r>
              <a:rPr lang="en-US" sz="900" dirty="0">
                <a:solidFill>
                  <a:srgbClr val="8B9BAD"/>
                </a:solidFill>
              </a:rPr>
              <a:t>22:00 – 32:00</a:t>
            </a:r>
            <a:endParaRPr lang="en-US" sz="900" dirty="0"/>
          </a:p>
        </p:txBody>
      </p:sp>
      <p:pic>
        <p:nvPicPr>
          <p:cNvPr id="7" name="Image 0" descr="preencoded.png">    </p:cNvPr>
          <p:cNvPicPr>
            <a:picLocks noChangeAspect="1"/>
          </p:cNvPicPr>
          <p:nvPr/>
        </p:nvPicPr>
        <p:blipFill>
          <a:blip r:embed="rId1"/>
          <a:stretch>
            <a:fillRect/>
          </a:stretch>
        </p:blipFill>
        <p:spPr>
          <a:xfrm>
            <a:off x="274320" y="658368"/>
            <a:ext cx="5120640" cy="2880360"/>
          </a:xfrm>
          <a:prstGeom prst="rect">
            <a:avLst/>
          </a:prstGeom>
          <a:effectLst>
            <a:outerShdw sx="100000" sy="100000" kx="0" ky="0" algn="bl" rotWithShape="0" blurRad="101600" dist="38100" dir="2700000">
              <a:srgbClr val="000000">
                <a:alpha val="30000"/>
              </a:srgbClr>
            </a:outerShdw>
          </a:effectLst>
        </p:spPr>
      </p:pic>
      <p:sp>
        <p:nvSpPr>
          <p:cNvPr id="8" name="Text 5"/>
          <p:cNvSpPr/>
          <p:nvPr/>
        </p:nvSpPr>
        <p:spPr>
          <a:xfrm>
            <a:off x="5623560" y="658368"/>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SAIZ SYOT</a:t>
            </a:r>
            <a:endParaRPr lang="en-US" sz="750" dirty="0"/>
          </a:p>
        </p:txBody>
      </p:sp>
      <p:sp>
        <p:nvSpPr>
          <p:cNvPr id="9" name="Text 6"/>
          <p:cNvSpPr/>
          <p:nvPr/>
        </p:nvSpPr>
        <p:spPr>
          <a:xfrm>
            <a:off x="5623560" y="841248"/>
            <a:ext cx="3246120" cy="274320"/>
          </a:xfrm>
          <a:prstGeom prst="rect">
            <a:avLst/>
          </a:prstGeom>
          <a:noFill/>
          <a:ln/>
        </p:spPr>
        <p:txBody>
          <a:bodyPr wrap="square" lIns="0" tIns="0" rIns="0" bIns="0" rtlCol="0" anchor="ctr"/>
          <a:lstStyle/>
          <a:p>
            <a:pPr indent="0" marL="0">
              <a:buNone/>
            </a:pPr>
            <a:r>
              <a:rPr lang="en-US" sz="1000" dirty="0">
                <a:solidFill>
                  <a:srgbClr val="E8EDF3"/>
                </a:solidFill>
              </a:rPr>
              <a:t>Medium Close-Up (MCU) + Grafik</a:t>
            </a:r>
            <a:endParaRPr lang="en-US" sz="1000" dirty="0"/>
          </a:p>
        </p:txBody>
      </p:sp>
      <p:sp>
        <p:nvSpPr>
          <p:cNvPr id="10" name="Text 7"/>
          <p:cNvSpPr/>
          <p:nvPr/>
        </p:nvSpPr>
        <p:spPr>
          <a:xfrm>
            <a:off x="5623560" y="1133856"/>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SUDUT KAMERA</a:t>
            </a:r>
            <a:endParaRPr lang="en-US" sz="750" dirty="0"/>
          </a:p>
        </p:txBody>
      </p:sp>
      <p:sp>
        <p:nvSpPr>
          <p:cNvPr id="11" name="Text 8"/>
          <p:cNvSpPr/>
          <p:nvPr/>
        </p:nvSpPr>
        <p:spPr>
          <a:xfrm>
            <a:off x="5623560" y="1316736"/>
            <a:ext cx="3246120" cy="274320"/>
          </a:xfrm>
          <a:prstGeom prst="rect">
            <a:avLst/>
          </a:prstGeom>
          <a:noFill/>
          <a:ln/>
        </p:spPr>
        <p:txBody>
          <a:bodyPr wrap="square" lIns="0" tIns="0" rIns="0" bIns="0" rtlCol="0" anchor="ctr"/>
          <a:lstStyle/>
          <a:p>
            <a:pPr indent="0" marL="0">
              <a:buNone/>
            </a:pPr>
            <a:r>
              <a:rPr lang="en-US" sz="1000" dirty="0">
                <a:solidFill>
                  <a:srgbClr val="E8EDF3"/>
                </a:solidFill>
              </a:rPr>
              <a:t>Aras mata</a:t>
            </a:r>
            <a:endParaRPr lang="en-US" sz="1000" dirty="0"/>
          </a:p>
        </p:txBody>
      </p:sp>
      <p:sp>
        <p:nvSpPr>
          <p:cNvPr id="12" name="Text 9"/>
          <p:cNvSpPr/>
          <p:nvPr/>
        </p:nvSpPr>
        <p:spPr>
          <a:xfrm>
            <a:off x="5623560" y="1609344"/>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PERGERAKAN</a:t>
            </a:r>
            <a:endParaRPr lang="en-US" sz="750" dirty="0"/>
          </a:p>
        </p:txBody>
      </p:sp>
      <p:sp>
        <p:nvSpPr>
          <p:cNvPr id="13" name="Text 10"/>
          <p:cNvSpPr/>
          <p:nvPr/>
        </p:nvSpPr>
        <p:spPr>
          <a:xfrm>
            <a:off x="5623560" y="1792224"/>
            <a:ext cx="3246120" cy="274320"/>
          </a:xfrm>
          <a:prstGeom prst="rect">
            <a:avLst/>
          </a:prstGeom>
          <a:noFill/>
          <a:ln/>
        </p:spPr>
        <p:txBody>
          <a:bodyPr wrap="square" lIns="0" tIns="0" rIns="0" bIns="0" rtlCol="0" anchor="ctr"/>
          <a:lstStyle/>
          <a:p>
            <a:pPr indent="0" marL="0">
              <a:buNone/>
            </a:pPr>
            <a:r>
              <a:rPr lang="en-US" sz="1000" dirty="0">
                <a:solidFill>
                  <a:srgbClr val="E8EDF3"/>
                </a:solidFill>
              </a:rPr>
              <a:t>Statik, pergerakan minimum</a:t>
            </a:r>
            <a:endParaRPr lang="en-US" sz="1000" dirty="0"/>
          </a:p>
        </p:txBody>
      </p:sp>
      <p:sp>
        <p:nvSpPr>
          <p:cNvPr id="14" name="Text 11"/>
          <p:cNvSpPr/>
          <p:nvPr/>
        </p:nvSpPr>
        <p:spPr>
          <a:xfrm>
            <a:off x="5623560" y="2084832"/>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KOMPOSISI</a:t>
            </a:r>
            <a:endParaRPr lang="en-US" sz="750" dirty="0"/>
          </a:p>
        </p:txBody>
      </p:sp>
      <p:sp>
        <p:nvSpPr>
          <p:cNvPr id="15" name="Text 12"/>
          <p:cNvSpPr/>
          <p:nvPr/>
        </p:nvSpPr>
        <p:spPr>
          <a:xfrm>
            <a:off x="5623560" y="2267712"/>
            <a:ext cx="3246120" cy="1024128"/>
          </a:xfrm>
          <a:prstGeom prst="rect">
            <a:avLst/>
          </a:prstGeom>
          <a:noFill/>
          <a:ln/>
        </p:spPr>
        <p:txBody>
          <a:bodyPr wrap="square" lIns="0" tIns="0" rIns="0" bIns="0" rtlCol="0" anchor="ctr"/>
          <a:lstStyle/>
          <a:p>
            <a:pPr marL="342900" indent="-342900">
              <a:buSzPct val="100000"/>
              <a:buChar char="•"/>
            </a:pPr>
            <a:r>
              <a:rPr lang="en-US" sz="900" dirty="0">
                <a:solidFill>
                  <a:srgbClr val="8B9BAD"/>
                </a:solidFill>
              </a:rPr>
              <a:t>Subjek pada 1/3 kiri</a:t>
            </a:r>
            <a:endParaRPr lang="en-US" sz="900" dirty="0"/>
          </a:p>
          <a:p>
            <a:pPr marL="342900" indent="-342900">
              <a:buSzPct val="100000"/>
              <a:buChar char="•"/>
            </a:pPr>
            <a:r>
              <a:rPr lang="en-US" sz="900" dirty="0">
                <a:solidFill>
                  <a:srgbClr val="8B9BAD"/>
                </a:solidFill>
              </a:rPr>
              <a:t>Grafik statistik di ruang kanan</a:t>
            </a:r>
            <a:endParaRPr lang="en-US" sz="900" dirty="0"/>
          </a:p>
          <a:p>
            <a:pPr marL="342900" indent="-342900">
              <a:buSzPct val="100000"/>
              <a:buChar char="•"/>
            </a:pPr>
            <a:r>
              <a:rPr lang="en-US" sz="900" dirty="0">
                <a:solidFill>
                  <a:srgbClr val="8B9BAD"/>
                </a:solidFill>
              </a:rPr>
              <a:t>Pastikan ruang kosong untuk grafik</a:t>
            </a:r>
            <a:endParaRPr lang="en-US" sz="900" dirty="0"/>
          </a:p>
          <a:p>
            <a:pPr marL="342900" indent="-342900">
              <a:buSzPct val="100000"/>
              <a:buChar char="•"/>
            </a:pPr>
            <a:r>
              <a:rPr lang="en-US" sz="900" dirty="0">
                <a:solidFill>
                  <a:srgbClr val="8B9BAD"/>
                </a:solidFill>
              </a:rPr>
              <a:t>Contoh sebenar &amp; angka</a:t>
            </a:r>
            <a:endParaRPr lang="en-US" sz="900" dirty="0"/>
          </a:p>
        </p:txBody>
      </p:sp>
      <p:sp>
        <p:nvSpPr>
          <p:cNvPr id="16" name="Text 13"/>
          <p:cNvSpPr/>
          <p:nvPr/>
        </p:nvSpPr>
        <p:spPr>
          <a:xfrm>
            <a:off x="5623560" y="3337560"/>
            <a:ext cx="3246120" cy="201168"/>
          </a:xfrm>
          <a:prstGeom prst="rect">
            <a:avLst/>
          </a:prstGeom>
          <a:noFill/>
          <a:ln/>
        </p:spPr>
        <p:txBody>
          <a:bodyPr wrap="square" lIns="0" tIns="0" rIns="0" bIns="0" rtlCol="0" anchor="ctr"/>
          <a:lstStyle/>
          <a:p>
            <a:pPr indent="0" marL="0">
              <a:buNone/>
            </a:pPr>
            <a:r>
              <a:rPr lang="en-US" sz="800" i="1" dirty="0">
                <a:solidFill>
                  <a:srgbClr val="2E5496"/>
                </a:solidFill>
              </a:rPr>
              <a:t>MCU  ·  On-screen graphics  ·  Rule of thirds</a:t>
            </a:r>
            <a:endParaRPr lang="en-US" sz="800" dirty="0"/>
          </a:p>
        </p:txBody>
      </p:sp>
      <p:sp>
        <p:nvSpPr>
          <p:cNvPr id="17" name="Shape 14"/>
          <p:cNvSpPr/>
          <p:nvPr/>
        </p:nvSpPr>
        <p:spPr>
          <a:xfrm>
            <a:off x="274320" y="3630168"/>
            <a:ext cx="8595360" cy="0"/>
          </a:xfrm>
          <a:prstGeom prst="line">
            <a:avLst/>
          </a:prstGeom>
          <a:noFill/>
          <a:ln w="9525">
            <a:solidFill>
              <a:srgbClr val="2E5496"/>
            </a:solidFill>
            <a:prstDash val="solid"/>
          </a:ln>
        </p:spPr>
      </p:sp>
      <p:sp>
        <p:nvSpPr>
          <p:cNvPr id="18" name="Text 15"/>
          <p:cNvSpPr/>
          <p:nvPr/>
        </p:nvSpPr>
        <p:spPr>
          <a:xfrm>
            <a:off x="274320" y="3739896"/>
            <a:ext cx="1828800" cy="201168"/>
          </a:xfrm>
          <a:prstGeom prst="rect">
            <a:avLst/>
          </a:prstGeom>
          <a:noFill/>
          <a:ln/>
        </p:spPr>
        <p:txBody>
          <a:bodyPr wrap="square" lIns="0" tIns="0" rIns="0" bIns="0" rtlCol="0" anchor="ctr"/>
          <a:lstStyle/>
          <a:p>
            <a:pPr indent="0" marL="0">
              <a:buNone/>
            </a:pPr>
            <a:r>
              <a:rPr lang="en-US" sz="750" b="1" spc="200" kern="0" dirty="0">
                <a:solidFill>
                  <a:srgbClr val="F0A829"/>
                </a:solidFill>
              </a:rPr>
              <a:t>SKRIP DIALOG</a:t>
            </a:r>
            <a:endParaRPr lang="en-US" sz="750" dirty="0"/>
          </a:p>
        </p:txBody>
      </p:sp>
      <p:sp>
        <p:nvSpPr>
          <p:cNvPr id="19" name="Text 16"/>
          <p:cNvSpPr/>
          <p:nvPr/>
        </p:nvSpPr>
        <p:spPr>
          <a:xfrm>
            <a:off x="274320" y="3968496"/>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0" name="Text 17"/>
          <p:cNvSpPr/>
          <p:nvPr/>
        </p:nvSpPr>
        <p:spPr>
          <a:xfrm>
            <a:off x="36576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Apa kelebihan paling ketara berbanding kaedah tradisional?</a:t>
            </a:r>
            <a:endParaRPr lang="en-US" sz="850" dirty="0"/>
          </a:p>
        </p:txBody>
      </p:sp>
      <p:sp>
        <p:nvSpPr>
          <p:cNvPr id="21" name="Text 18"/>
          <p:cNvSpPr/>
          <p:nvPr/>
        </p:nvSpPr>
        <p:spPr>
          <a:xfrm>
            <a:off x="274320" y="4572000"/>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2" name="Text 19"/>
          <p:cNvSpPr/>
          <p:nvPr/>
        </p:nvSpPr>
        <p:spPr>
          <a:xfrm>
            <a:off x="36576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Kaedah penyampaian yang macam mana paling berkesan?</a:t>
            </a:r>
            <a:endParaRPr lang="en-US" sz="850" dirty="0"/>
          </a:p>
        </p:txBody>
      </p:sp>
      <p:sp>
        <p:nvSpPr>
          <p:cNvPr id="23" name="Text 20"/>
          <p:cNvSpPr/>
          <p:nvPr/>
        </p:nvSpPr>
        <p:spPr>
          <a:xfrm>
            <a:off x="4754880" y="3968496"/>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4" name="Text 21"/>
          <p:cNvSpPr/>
          <p:nvPr/>
        </p:nvSpPr>
        <p:spPr>
          <a:xfrm>
            <a:off x="484632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Empat: keselamatan (pelajar boleh tersilap dalam simulator tanpa risiko), pengulangan tanpa kos, maklum balas serta-merta, dan akses untuk pelajar di lokasi terpencil.</a:t>
            </a:r>
            <a:endParaRPr lang="en-US" sz="850" dirty="0"/>
          </a:p>
        </p:txBody>
      </p:sp>
      <p:sp>
        <p:nvSpPr>
          <p:cNvPr id="25" name="Text 22"/>
          <p:cNvSpPr/>
          <p:nvPr/>
        </p:nvSpPr>
        <p:spPr>
          <a:xfrm>
            <a:off x="4754880" y="4572000"/>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6" name="Text 23"/>
          <p:cNvSpPr/>
          <p:nvPr/>
        </p:nvSpPr>
        <p:spPr>
          <a:xfrm>
            <a:off x="484632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Pendekatan berbaur (blended) — teori dalam talian, kemahiran dalam simulator, pengesahan pada peralatan sebenar. Teknologi membina kesediaan supaya masa sebenar digunakan lebih cekap.</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164592"/>
            <a:ext cx="1005840" cy="384048"/>
          </a:xfrm>
          <a:prstGeom prst="roundRect">
            <a:avLst>
              <a:gd name="adj" fmla="val 11905"/>
            </a:avLst>
          </a:prstGeom>
          <a:solidFill>
            <a:srgbClr val="1F3864"/>
          </a:solidFill>
          <a:ln w="12700">
            <a:solidFill>
              <a:srgbClr val="2E5496"/>
            </a:solidFill>
            <a:prstDash val="solid"/>
          </a:ln>
        </p:spPr>
      </p:sp>
      <p:sp>
        <p:nvSpPr>
          <p:cNvPr id="3" name="Text 1"/>
          <p:cNvSpPr/>
          <p:nvPr/>
        </p:nvSpPr>
        <p:spPr>
          <a:xfrm>
            <a:off x="274320" y="164592"/>
            <a:ext cx="1005840" cy="384048"/>
          </a:xfrm>
          <a:prstGeom prst="rect">
            <a:avLst/>
          </a:prstGeom>
          <a:noFill/>
          <a:ln/>
        </p:spPr>
        <p:txBody>
          <a:bodyPr wrap="square" lIns="0" tIns="0" rIns="0" bIns="0" rtlCol="0" anchor="ctr"/>
          <a:lstStyle/>
          <a:p>
            <a:pPr algn="ctr" indent="0" marL="0">
              <a:buNone/>
            </a:pPr>
            <a:r>
              <a:rPr lang="en-US" sz="1000" b="1" dirty="0">
                <a:solidFill>
                  <a:srgbClr val="FFFFFF"/>
                </a:solidFill>
              </a:rPr>
              <a:t>SCENE 05</a:t>
            </a:r>
            <a:endParaRPr lang="en-US" sz="1000" dirty="0"/>
          </a:p>
        </p:txBody>
      </p:sp>
      <p:sp>
        <p:nvSpPr>
          <p:cNvPr id="4" name="Text 2"/>
          <p:cNvSpPr/>
          <p:nvPr/>
        </p:nvSpPr>
        <p:spPr>
          <a:xfrm>
            <a:off x="1417320" y="164592"/>
            <a:ext cx="5029200" cy="384048"/>
          </a:xfrm>
          <a:prstGeom prst="rect">
            <a:avLst/>
          </a:prstGeom>
          <a:noFill/>
          <a:ln/>
        </p:spPr>
        <p:txBody>
          <a:bodyPr wrap="square" lIns="0" tIns="0" rIns="0" bIns="0" rtlCol="0" anchor="ctr"/>
          <a:lstStyle/>
          <a:p>
            <a:pPr indent="0" marL="0">
              <a:buNone/>
            </a:pPr>
            <a:r>
              <a:rPr lang="en-US" sz="1800" b="1" dirty="0">
                <a:solidFill>
                  <a:srgbClr val="E8EDF3"/>
                </a:solidFill>
              </a:rPr>
              <a:t>Cabaran &amp; Halangan</a:t>
            </a:r>
            <a:endParaRPr lang="en-US" sz="1800" dirty="0"/>
          </a:p>
        </p:txBody>
      </p:sp>
      <p:sp>
        <p:nvSpPr>
          <p:cNvPr id="5" name="Shape 3"/>
          <p:cNvSpPr/>
          <p:nvPr/>
        </p:nvSpPr>
        <p:spPr>
          <a:xfrm>
            <a:off x="7772400" y="164592"/>
            <a:ext cx="1097280" cy="384048"/>
          </a:xfrm>
          <a:prstGeom prst="roundRect">
            <a:avLst>
              <a:gd name="adj" fmla="val 11905"/>
            </a:avLst>
          </a:prstGeom>
          <a:solidFill>
            <a:srgbClr val="161B22"/>
          </a:solidFill>
          <a:ln w="12700">
            <a:solidFill>
              <a:srgbClr val="2E5496"/>
            </a:solidFill>
            <a:prstDash val="solid"/>
          </a:ln>
        </p:spPr>
      </p:sp>
      <p:sp>
        <p:nvSpPr>
          <p:cNvPr id="6" name="Text 4"/>
          <p:cNvSpPr/>
          <p:nvPr/>
        </p:nvSpPr>
        <p:spPr>
          <a:xfrm>
            <a:off x="7772400" y="164592"/>
            <a:ext cx="1097280" cy="384048"/>
          </a:xfrm>
          <a:prstGeom prst="rect">
            <a:avLst/>
          </a:prstGeom>
          <a:noFill/>
          <a:ln/>
        </p:spPr>
        <p:txBody>
          <a:bodyPr wrap="square" lIns="0" tIns="0" rIns="0" bIns="0" rtlCol="0" anchor="ctr"/>
          <a:lstStyle/>
          <a:p>
            <a:pPr algn="ctr" indent="0" marL="0">
              <a:buNone/>
            </a:pPr>
            <a:r>
              <a:rPr lang="en-US" sz="900" dirty="0">
                <a:solidFill>
                  <a:srgbClr val="8B9BAD"/>
                </a:solidFill>
              </a:rPr>
              <a:t>32:00 – 42:00</a:t>
            </a:r>
            <a:endParaRPr lang="en-US" sz="900" dirty="0"/>
          </a:p>
        </p:txBody>
      </p:sp>
      <p:pic>
        <p:nvPicPr>
          <p:cNvPr id="7" name="Image 0" descr="preencoded.png">    </p:cNvPr>
          <p:cNvPicPr>
            <a:picLocks noChangeAspect="1"/>
          </p:cNvPicPr>
          <p:nvPr/>
        </p:nvPicPr>
        <p:blipFill>
          <a:blip r:embed="rId1"/>
          <a:stretch>
            <a:fillRect/>
          </a:stretch>
        </p:blipFill>
        <p:spPr>
          <a:xfrm>
            <a:off x="274320" y="658368"/>
            <a:ext cx="5120640" cy="2880360"/>
          </a:xfrm>
          <a:prstGeom prst="rect">
            <a:avLst/>
          </a:prstGeom>
          <a:effectLst>
            <a:outerShdw sx="100000" sy="100000" kx="0" ky="0" algn="bl" rotWithShape="0" blurRad="101600" dist="38100" dir="2700000">
              <a:srgbClr val="000000">
                <a:alpha val="30000"/>
              </a:srgbClr>
            </a:outerShdw>
          </a:effectLst>
        </p:spPr>
      </p:pic>
      <p:sp>
        <p:nvSpPr>
          <p:cNvPr id="8" name="Text 5"/>
          <p:cNvSpPr/>
          <p:nvPr/>
        </p:nvSpPr>
        <p:spPr>
          <a:xfrm>
            <a:off x="5623560" y="658368"/>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SAIZ SYOT</a:t>
            </a:r>
            <a:endParaRPr lang="en-US" sz="750" dirty="0"/>
          </a:p>
        </p:txBody>
      </p:sp>
      <p:sp>
        <p:nvSpPr>
          <p:cNvPr id="9" name="Text 6"/>
          <p:cNvSpPr/>
          <p:nvPr/>
        </p:nvSpPr>
        <p:spPr>
          <a:xfrm>
            <a:off x="5623560" y="841248"/>
            <a:ext cx="3246120" cy="274320"/>
          </a:xfrm>
          <a:prstGeom prst="rect">
            <a:avLst/>
          </a:prstGeom>
          <a:noFill/>
          <a:ln/>
        </p:spPr>
        <p:txBody>
          <a:bodyPr wrap="square" lIns="0" tIns="0" rIns="0" bIns="0" rtlCol="0" anchor="ctr"/>
          <a:lstStyle/>
          <a:p>
            <a:pPr indent="0" marL="0">
              <a:buNone/>
            </a:pPr>
            <a:r>
              <a:rPr lang="en-US" sz="1000" dirty="0">
                <a:solidFill>
                  <a:srgbClr val="E8EDF3"/>
                </a:solidFill>
              </a:rPr>
              <a:t>Close-Up (CU) bergilir</a:t>
            </a:r>
            <a:endParaRPr lang="en-US" sz="1000" dirty="0"/>
          </a:p>
        </p:txBody>
      </p:sp>
      <p:sp>
        <p:nvSpPr>
          <p:cNvPr id="10" name="Text 7"/>
          <p:cNvSpPr/>
          <p:nvPr/>
        </p:nvSpPr>
        <p:spPr>
          <a:xfrm>
            <a:off x="5623560" y="1133856"/>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SUDUT KAMERA</a:t>
            </a:r>
            <a:endParaRPr lang="en-US" sz="750" dirty="0"/>
          </a:p>
        </p:txBody>
      </p:sp>
      <p:sp>
        <p:nvSpPr>
          <p:cNvPr id="11" name="Text 8"/>
          <p:cNvSpPr/>
          <p:nvPr/>
        </p:nvSpPr>
        <p:spPr>
          <a:xfrm>
            <a:off x="5623560" y="1316736"/>
            <a:ext cx="3246120" cy="274320"/>
          </a:xfrm>
          <a:prstGeom prst="rect">
            <a:avLst/>
          </a:prstGeom>
          <a:noFill/>
          <a:ln/>
        </p:spPr>
        <p:txBody>
          <a:bodyPr wrap="square" lIns="0" tIns="0" rIns="0" bIns="0" rtlCol="0" anchor="ctr"/>
          <a:lstStyle/>
          <a:p>
            <a:pPr indent="0" marL="0">
              <a:buNone/>
            </a:pPr>
            <a:r>
              <a:rPr lang="en-US" sz="1000" dirty="0">
                <a:solidFill>
                  <a:srgbClr val="E8EDF3"/>
                </a:solidFill>
              </a:rPr>
              <a:t>Aras mata, rapat untuk keintiman</a:t>
            </a:r>
            <a:endParaRPr lang="en-US" sz="1000" dirty="0"/>
          </a:p>
        </p:txBody>
      </p:sp>
      <p:sp>
        <p:nvSpPr>
          <p:cNvPr id="12" name="Text 9"/>
          <p:cNvSpPr/>
          <p:nvPr/>
        </p:nvSpPr>
        <p:spPr>
          <a:xfrm>
            <a:off x="5623560" y="1609344"/>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PERGERAKAN</a:t>
            </a:r>
            <a:endParaRPr lang="en-US" sz="750" dirty="0"/>
          </a:p>
        </p:txBody>
      </p:sp>
      <p:sp>
        <p:nvSpPr>
          <p:cNvPr id="13" name="Text 10"/>
          <p:cNvSpPr/>
          <p:nvPr/>
        </p:nvSpPr>
        <p:spPr>
          <a:xfrm>
            <a:off x="5623560" y="1792224"/>
            <a:ext cx="3246120" cy="274320"/>
          </a:xfrm>
          <a:prstGeom prst="rect">
            <a:avLst/>
          </a:prstGeom>
          <a:noFill/>
          <a:ln/>
        </p:spPr>
        <p:txBody>
          <a:bodyPr wrap="square" lIns="0" tIns="0" rIns="0" bIns="0" rtlCol="0" anchor="ctr"/>
          <a:lstStyle/>
          <a:p>
            <a:pPr indent="0" marL="0">
              <a:buNone/>
            </a:pPr>
            <a:r>
              <a:rPr lang="en-US" sz="1000" dirty="0">
                <a:solidFill>
                  <a:srgbClr val="E8EDF3"/>
                </a:solidFill>
              </a:rPr>
              <a:t>Statik; benarkan jeda dramatik</a:t>
            </a:r>
            <a:endParaRPr lang="en-US" sz="1000" dirty="0"/>
          </a:p>
        </p:txBody>
      </p:sp>
      <p:sp>
        <p:nvSpPr>
          <p:cNvPr id="14" name="Text 11"/>
          <p:cNvSpPr/>
          <p:nvPr/>
        </p:nvSpPr>
        <p:spPr>
          <a:xfrm>
            <a:off x="5623560" y="2084832"/>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KOMPOSISI</a:t>
            </a:r>
            <a:endParaRPr lang="en-US" sz="750" dirty="0"/>
          </a:p>
        </p:txBody>
      </p:sp>
      <p:sp>
        <p:nvSpPr>
          <p:cNvPr id="15" name="Text 12"/>
          <p:cNvSpPr/>
          <p:nvPr/>
        </p:nvSpPr>
        <p:spPr>
          <a:xfrm>
            <a:off x="5623560" y="2267712"/>
            <a:ext cx="3246120" cy="1024128"/>
          </a:xfrm>
          <a:prstGeom prst="rect">
            <a:avLst/>
          </a:prstGeom>
          <a:noFill/>
          <a:ln/>
        </p:spPr>
        <p:txBody>
          <a:bodyPr wrap="square" lIns="0" tIns="0" rIns="0" bIns="0" rtlCol="0" anchor="ctr"/>
          <a:lstStyle/>
          <a:p>
            <a:pPr marL="342900" indent="-342900">
              <a:buSzPct val="100000"/>
              <a:buChar char="•"/>
            </a:pPr>
            <a:r>
              <a:rPr lang="en-US" sz="900" dirty="0">
                <a:solidFill>
                  <a:srgbClr val="8B9BAD"/>
                </a:solidFill>
              </a:rPr>
              <a:t>Framing rapat — fokus emosi</a:t>
            </a:r>
            <a:endParaRPr lang="en-US" sz="900" dirty="0"/>
          </a:p>
          <a:p>
            <a:pPr marL="342900" indent="-342900">
              <a:buSzPct val="100000"/>
              <a:buChar char="•"/>
            </a:pPr>
            <a:r>
              <a:rPr lang="en-US" sz="900" dirty="0">
                <a:solidFill>
                  <a:srgbClr val="8B9BAD"/>
                </a:solidFill>
              </a:rPr>
              <a:t>Shallow DOF, latar lembut</a:t>
            </a:r>
            <a:endParaRPr lang="en-US" sz="900" dirty="0"/>
          </a:p>
          <a:p>
            <a:pPr marL="342900" indent="-342900">
              <a:buSzPct val="100000"/>
              <a:buChar char="•"/>
            </a:pPr>
            <a:r>
              <a:rPr lang="en-US" sz="900" dirty="0">
                <a:solidFill>
                  <a:srgbClr val="8B9BAD"/>
                </a:solidFill>
              </a:rPr>
              <a:t>Kurangkan elemen latar mengganggu</a:t>
            </a:r>
            <a:endParaRPr lang="en-US" sz="900" dirty="0"/>
          </a:p>
          <a:p>
            <a:pPr marL="342900" indent="-342900">
              <a:buSzPct val="100000"/>
              <a:buChar char="•"/>
            </a:pPr>
            <a:r>
              <a:rPr lang="en-US" sz="900" dirty="0">
                <a:solidFill>
                  <a:srgbClr val="8B9BAD"/>
                </a:solidFill>
              </a:rPr>
              <a:t>Tiada/kurang muzik latar</a:t>
            </a:r>
            <a:endParaRPr lang="en-US" sz="900" dirty="0"/>
          </a:p>
        </p:txBody>
      </p:sp>
      <p:sp>
        <p:nvSpPr>
          <p:cNvPr id="16" name="Text 13"/>
          <p:cNvSpPr/>
          <p:nvPr/>
        </p:nvSpPr>
        <p:spPr>
          <a:xfrm>
            <a:off x="5623560" y="3337560"/>
            <a:ext cx="3246120" cy="201168"/>
          </a:xfrm>
          <a:prstGeom prst="rect">
            <a:avLst/>
          </a:prstGeom>
          <a:noFill/>
          <a:ln/>
        </p:spPr>
        <p:txBody>
          <a:bodyPr wrap="square" lIns="0" tIns="0" rIns="0" bIns="0" rtlCol="0" anchor="ctr"/>
          <a:lstStyle/>
          <a:p>
            <a:pPr indent="0" marL="0">
              <a:buNone/>
            </a:pPr>
            <a:r>
              <a:rPr lang="en-US" sz="800" i="1" dirty="0">
                <a:solidFill>
                  <a:srgbClr val="2E5496"/>
                </a:solidFill>
              </a:rPr>
              <a:t>CU  ·  Intim  ·  Jeda dramatik  ·  Tiada muzik</a:t>
            </a:r>
            <a:endParaRPr lang="en-US" sz="800" dirty="0"/>
          </a:p>
        </p:txBody>
      </p:sp>
      <p:sp>
        <p:nvSpPr>
          <p:cNvPr id="17" name="Shape 14"/>
          <p:cNvSpPr/>
          <p:nvPr/>
        </p:nvSpPr>
        <p:spPr>
          <a:xfrm>
            <a:off x="274320" y="3630168"/>
            <a:ext cx="8595360" cy="0"/>
          </a:xfrm>
          <a:prstGeom prst="line">
            <a:avLst/>
          </a:prstGeom>
          <a:noFill/>
          <a:ln w="9525">
            <a:solidFill>
              <a:srgbClr val="2E5496"/>
            </a:solidFill>
            <a:prstDash val="solid"/>
          </a:ln>
        </p:spPr>
      </p:sp>
      <p:sp>
        <p:nvSpPr>
          <p:cNvPr id="18" name="Text 15"/>
          <p:cNvSpPr/>
          <p:nvPr/>
        </p:nvSpPr>
        <p:spPr>
          <a:xfrm>
            <a:off x="274320" y="3739896"/>
            <a:ext cx="1828800" cy="201168"/>
          </a:xfrm>
          <a:prstGeom prst="rect">
            <a:avLst/>
          </a:prstGeom>
          <a:noFill/>
          <a:ln/>
        </p:spPr>
        <p:txBody>
          <a:bodyPr wrap="square" lIns="0" tIns="0" rIns="0" bIns="0" rtlCol="0" anchor="ctr"/>
          <a:lstStyle/>
          <a:p>
            <a:pPr indent="0" marL="0">
              <a:buNone/>
            </a:pPr>
            <a:r>
              <a:rPr lang="en-US" sz="750" b="1" spc="200" kern="0" dirty="0">
                <a:solidFill>
                  <a:srgbClr val="F0A829"/>
                </a:solidFill>
              </a:rPr>
              <a:t>SKRIP DIALOG</a:t>
            </a:r>
            <a:endParaRPr lang="en-US" sz="750" dirty="0"/>
          </a:p>
        </p:txBody>
      </p:sp>
      <p:sp>
        <p:nvSpPr>
          <p:cNvPr id="19" name="Text 16"/>
          <p:cNvSpPr/>
          <p:nvPr/>
        </p:nvSpPr>
        <p:spPr>
          <a:xfrm>
            <a:off x="274320" y="3968496"/>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0" name="Text 17"/>
          <p:cNvSpPr/>
          <p:nvPr/>
        </p:nvSpPr>
        <p:spPr>
          <a:xfrm>
            <a:off x="36576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Apa halangan paling besar dalam melaksanakan teknologi pendidikan untuk avionik?</a:t>
            </a:r>
            <a:endParaRPr lang="en-US" sz="850" dirty="0"/>
          </a:p>
        </p:txBody>
      </p:sp>
      <p:sp>
        <p:nvSpPr>
          <p:cNvPr id="21" name="Text 18"/>
          <p:cNvSpPr/>
          <p:nvPr/>
        </p:nvSpPr>
        <p:spPr>
          <a:xfrm>
            <a:off x="274320" y="4572000"/>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2" name="Text 19"/>
          <p:cNvSpPr/>
          <p:nvPr/>
        </p:nvSpPr>
        <p:spPr>
          <a:xfrm>
            <a:off x="36576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Pernahkah satu pelaksanaan gagal? Apa yang anda pelajari?</a:t>
            </a:r>
            <a:endParaRPr lang="en-US" sz="850" dirty="0"/>
          </a:p>
        </p:txBody>
      </p:sp>
      <p:sp>
        <p:nvSpPr>
          <p:cNvPr id="23" name="Text 20"/>
          <p:cNvSpPr/>
          <p:nvPr/>
        </p:nvSpPr>
        <p:spPr>
          <a:xfrm>
            <a:off x="4754880" y="3968496"/>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4" name="Text 21"/>
          <p:cNvSpPr/>
          <p:nvPr/>
        </p:nvSpPr>
        <p:spPr>
          <a:xfrm>
            <a:off x="484632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Empat: kos permulaan tinggi, infrastruktur, kesediaan pengajar, dan penerimaan regulatori — kaedah latihan perlu diluluskan dalam rangka kerja Part-147.</a:t>
            </a:r>
            <a:endParaRPr lang="en-US" sz="850" dirty="0"/>
          </a:p>
        </p:txBody>
      </p:sp>
      <p:sp>
        <p:nvSpPr>
          <p:cNvPr id="25" name="Text 22"/>
          <p:cNvSpPr/>
          <p:nvPr/>
        </p:nvSpPr>
        <p:spPr>
          <a:xfrm>
            <a:off x="4754880" y="4572000"/>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6" name="Text 23"/>
          <p:cNvSpPr/>
          <p:nvPr/>
        </p:nvSpPr>
        <p:spPr>
          <a:xfrm>
            <a:off x="484632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Ya. Sebuah organisasi beli VR mahal tapi tidak latih pengajar — akhirnya berhabuk di stor. Pengajarannya: teknologi tanpa pedagogi dan pengurusan perubahan akan gagal.</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164592"/>
            <a:ext cx="1005840" cy="384048"/>
          </a:xfrm>
          <a:prstGeom prst="roundRect">
            <a:avLst>
              <a:gd name="adj" fmla="val 11905"/>
            </a:avLst>
          </a:prstGeom>
          <a:solidFill>
            <a:srgbClr val="1F3864"/>
          </a:solidFill>
          <a:ln w="12700">
            <a:solidFill>
              <a:srgbClr val="2E5496"/>
            </a:solidFill>
            <a:prstDash val="solid"/>
          </a:ln>
        </p:spPr>
      </p:sp>
      <p:sp>
        <p:nvSpPr>
          <p:cNvPr id="3" name="Text 1"/>
          <p:cNvSpPr/>
          <p:nvPr/>
        </p:nvSpPr>
        <p:spPr>
          <a:xfrm>
            <a:off x="274320" y="164592"/>
            <a:ext cx="1005840" cy="384048"/>
          </a:xfrm>
          <a:prstGeom prst="rect">
            <a:avLst/>
          </a:prstGeom>
          <a:noFill/>
          <a:ln/>
        </p:spPr>
        <p:txBody>
          <a:bodyPr wrap="square" lIns="0" tIns="0" rIns="0" bIns="0" rtlCol="0" anchor="ctr"/>
          <a:lstStyle/>
          <a:p>
            <a:pPr algn="ctr" indent="0" marL="0">
              <a:buNone/>
            </a:pPr>
            <a:r>
              <a:rPr lang="en-US" sz="1000" b="1" dirty="0">
                <a:solidFill>
                  <a:srgbClr val="FFFFFF"/>
                </a:solidFill>
              </a:rPr>
              <a:t>SCENE 06</a:t>
            </a:r>
            <a:endParaRPr lang="en-US" sz="1000" dirty="0"/>
          </a:p>
        </p:txBody>
      </p:sp>
      <p:sp>
        <p:nvSpPr>
          <p:cNvPr id="4" name="Text 2"/>
          <p:cNvSpPr/>
          <p:nvPr/>
        </p:nvSpPr>
        <p:spPr>
          <a:xfrm>
            <a:off x="1417320" y="164592"/>
            <a:ext cx="5029200" cy="384048"/>
          </a:xfrm>
          <a:prstGeom prst="rect">
            <a:avLst/>
          </a:prstGeom>
          <a:noFill/>
          <a:ln/>
        </p:spPr>
        <p:txBody>
          <a:bodyPr wrap="square" lIns="0" tIns="0" rIns="0" bIns="0" rtlCol="0" anchor="ctr"/>
          <a:lstStyle/>
          <a:p>
            <a:pPr indent="0" marL="0">
              <a:buNone/>
            </a:pPr>
            <a:r>
              <a:rPr lang="en-US" sz="1800" b="1" dirty="0">
                <a:solidFill>
                  <a:srgbClr val="E8EDF3"/>
                </a:solidFill>
              </a:rPr>
              <a:t>Contoh Berkesan</a:t>
            </a:r>
            <a:endParaRPr lang="en-US" sz="1800" dirty="0"/>
          </a:p>
        </p:txBody>
      </p:sp>
      <p:sp>
        <p:nvSpPr>
          <p:cNvPr id="5" name="Shape 3"/>
          <p:cNvSpPr/>
          <p:nvPr/>
        </p:nvSpPr>
        <p:spPr>
          <a:xfrm>
            <a:off x="7772400" y="164592"/>
            <a:ext cx="1097280" cy="384048"/>
          </a:xfrm>
          <a:prstGeom prst="roundRect">
            <a:avLst>
              <a:gd name="adj" fmla="val 11905"/>
            </a:avLst>
          </a:prstGeom>
          <a:solidFill>
            <a:srgbClr val="161B22"/>
          </a:solidFill>
          <a:ln w="12700">
            <a:solidFill>
              <a:srgbClr val="2E5496"/>
            </a:solidFill>
            <a:prstDash val="solid"/>
          </a:ln>
        </p:spPr>
      </p:sp>
      <p:sp>
        <p:nvSpPr>
          <p:cNvPr id="6" name="Text 4"/>
          <p:cNvSpPr/>
          <p:nvPr/>
        </p:nvSpPr>
        <p:spPr>
          <a:xfrm>
            <a:off x="7772400" y="164592"/>
            <a:ext cx="1097280" cy="384048"/>
          </a:xfrm>
          <a:prstGeom prst="rect">
            <a:avLst/>
          </a:prstGeom>
          <a:noFill/>
          <a:ln/>
        </p:spPr>
        <p:txBody>
          <a:bodyPr wrap="square" lIns="0" tIns="0" rIns="0" bIns="0" rtlCol="0" anchor="ctr"/>
          <a:lstStyle/>
          <a:p>
            <a:pPr algn="ctr" indent="0" marL="0">
              <a:buNone/>
            </a:pPr>
            <a:r>
              <a:rPr lang="en-US" sz="900" dirty="0">
                <a:solidFill>
                  <a:srgbClr val="8B9BAD"/>
                </a:solidFill>
              </a:rPr>
              <a:t>42:00 – 52:00</a:t>
            </a:r>
            <a:endParaRPr lang="en-US" sz="900" dirty="0"/>
          </a:p>
        </p:txBody>
      </p:sp>
      <p:pic>
        <p:nvPicPr>
          <p:cNvPr id="7" name="Image 0" descr="preencoded.png">    </p:cNvPr>
          <p:cNvPicPr>
            <a:picLocks noChangeAspect="1"/>
          </p:cNvPicPr>
          <p:nvPr/>
        </p:nvPicPr>
        <p:blipFill>
          <a:blip r:embed="rId1"/>
          <a:stretch>
            <a:fillRect/>
          </a:stretch>
        </p:blipFill>
        <p:spPr>
          <a:xfrm>
            <a:off x="274320" y="658368"/>
            <a:ext cx="5120640" cy="2880360"/>
          </a:xfrm>
          <a:prstGeom prst="rect">
            <a:avLst/>
          </a:prstGeom>
          <a:effectLst>
            <a:outerShdw sx="100000" sy="100000" kx="0" ky="0" algn="bl" rotWithShape="0" blurRad="101600" dist="38100" dir="2700000">
              <a:srgbClr val="000000">
                <a:alpha val="30000"/>
              </a:srgbClr>
            </a:outerShdw>
          </a:effectLst>
        </p:spPr>
      </p:pic>
      <p:sp>
        <p:nvSpPr>
          <p:cNvPr id="8" name="Text 5"/>
          <p:cNvSpPr/>
          <p:nvPr/>
        </p:nvSpPr>
        <p:spPr>
          <a:xfrm>
            <a:off x="5623560" y="658368"/>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SAIZ SYOT</a:t>
            </a:r>
            <a:endParaRPr lang="en-US" sz="750" dirty="0"/>
          </a:p>
        </p:txBody>
      </p:sp>
      <p:sp>
        <p:nvSpPr>
          <p:cNvPr id="9" name="Text 6"/>
          <p:cNvSpPr/>
          <p:nvPr/>
        </p:nvSpPr>
        <p:spPr>
          <a:xfrm>
            <a:off x="5623560" y="841248"/>
            <a:ext cx="3246120" cy="274320"/>
          </a:xfrm>
          <a:prstGeom prst="rect">
            <a:avLst/>
          </a:prstGeom>
          <a:noFill/>
          <a:ln/>
        </p:spPr>
        <p:txBody>
          <a:bodyPr wrap="square" lIns="0" tIns="0" rIns="0" bIns="0" rtlCol="0" anchor="ctr"/>
          <a:lstStyle/>
          <a:p>
            <a:pPr indent="0" marL="0">
              <a:buNone/>
            </a:pPr>
            <a:r>
              <a:rPr lang="en-US" sz="1000" dirty="0">
                <a:solidFill>
                  <a:srgbClr val="E8EDF3"/>
                </a:solidFill>
              </a:rPr>
              <a:t>Medium Shot + Screen Demo (PIP)</a:t>
            </a:r>
            <a:endParaRPr lang="en-US" sz="1000" dirty="0"/>
          </a:p>
        </p:txBody>
      </p:sp>
      <p:sp>
        <p:nvSpPr>
          <p:cNvPr id="10" name="Text 7"/>
          <p:cNvSpPr/>
          <p:nvPr/>
        </p:nvSpPr>
        <p:spPr>
          <a:xfrm>
            <a:off x="5623560" y="1133856"/>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SUDUT KAMERA</a:t>
            </a:r>
            <a:endParaRPr lang="en-US" sz="750" dirty="0"/>
          </a:p>
        </p:txBody>
      </p:sp>
      <p:sp>
        <p:nvSpPr>
          <p:cNvPr id="11" name="Text 8"/>
          <p:cNvSpPr/>
          <p:nvPr/>
        </p:nvSpPr>
        <p:spPr>
          <a:xfrm>
            <a:off x="5623560" y="1316736"/>
            <a:ext cx="3246120" cy="274320"/>
          </a:xfrm>
          <a:prstGeom prst="rect">
            <a:avLst/>
          </a:prstGeom>
          <a:noFill/>
          <a:ln/>
        </p:spPr>
        <p:txBody>
          <a:bodyPr wrap="square" lIns="0" tIns="0" rIns="0" bIns="0" rtlCol="0" anchor="ctr"/>
          <a:lstStyle/>
          <a:p>
            <a:pPr indent="0" marL="0">
              <a:buNone/>
            </a:pPr>
            <a:r>
              <a:rPr lang="en-US" sz="1000" dirty="0">
                <a:solidFill>
                  <a:srgbClr val="E8EDF3"/>
                </a:solidFill>
              </a:rPr>
              <a:t>Aras mata + skrin demo</a:t>
            </a:r>
            <a:endParaRPr lang="en-US" sz="1000" dirty="0"/>
          </a:p>
        </p:txBody>
      </p:sp>
      <p:sp>
        <p:nvSpPr>
          <p:cNvPr id="12" name="Text 9"/>
          <p:cNvSpPr/>
          <p:nvPr/>
        </p:nvSpPr>
        <p:spPr>
          <a:xfrm>
            <a:off x="5623560" y="1609344"/>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PERGERAKAN</a:t>
            </a:r>
            <a:endParaRPr lang="en-US" sz="750" dirty="0"/>
          </a:p>
        </p:txBody>
      </p:sp>
      <p:sp>
        <p:nvSpPr>
          <p:cNvPr id="13" name="Text 10"/>
          <p:cNvSpPr/>
          <p:nvPr/>
        </p:nvSpPr>
        <p:spPr>
          <a:xfrm>
            <a:off x="5623560" y="1792224"/>
            <a:ext cx="3246120" cy="274320"/>
          </a:xfrm>
          <a:prstGeom prst="rect">
            <a:avLst/>
          </a:prstGeom>
          <a:noFill/>
          <a:ln/>
        </p:spPr>
        <p:txBody>
          <a:bodyPr wrap="square" lIns="0" tIns="0" rIns="0" bIns="0" rtlCol="0" anchor="ctr"/>
          <a:lstStyle/>
          <a:p>
            <a:pPr indent="0" marL="0">
              <a:buNone/>
            </a:pPr>
            <a:r>
              <a:rPr lang="en-US" sz="1000" dirty="0">
                <a:solidFill>
                  <a:srgbClr val="E8EDF3"/>
                </a:solidFill>
              </a:rPr>
              <a:t>PIP atau potong penuh ke demo</a:t>
            </a:r>
            <a:endParaRPr lang="en-US" sz="1000" dirty="0"/>
          </a:p>
        </p:txBody>
      </p:sp>
      <p:sp>
        <p:nvSpPr>
          <p:cNvPr id="14" name="Text 11"/>
          <p:cNvSpPr/>
          <p:nvPr/>
        </p:nvSpPr>
        <p:spPr>
          <a:xfrm>
            <a:off x="5623560" y="2084832"/>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KOMPOSISI</a:t>
            </a:r>
            <a:endParaRPr lang="en-US" sz="750" dirty="0"/>
          </a:p>
        </p:txBody>
      </p:sp>
      <p:sp>
        <p:nvSpPr>
          <p:cNvPr id="15" name="Text 12"/>
          <p:cNvSpPr/>
          <p:nvPr/>
        </p:nvSpPr>
        <p:spPr>
          <a:xfrm>
            <a:off x="5623560" y="2267712"/>
            <a:ext cx="3246120" cy="1024128"/>
          </a:xfrm>
          <a:prstGeom prst="rect">
            <a:avLst/>
          </a:prstGeom>
          <a:noFill/>
          <a:ln/>
        </p:spPr>
        <p:txBody>
          <a:bodyPr wrap="square" lIns="0" tIns="0" rIns="0" bIns="0" rtlCol="0" anchor="ctr"/>
          <a:lstStyle/>
          <a:p>
            <a:pPr marL="342900" indent="-342900">
              <a:buSzPct val="100000"/>
              <a:buChar char="•"/>
            </a:pPr>
            <a:r>
              <a:rPr lang="en-US" sz="900" dirty="0">
                <a:solidFill>
                  <a:srgbClr val="8B9BAD"/>
                </a:solidFill>
              </a:rPr>
              <a:t>Demo simulator / rajah alir</a:t>
            </a:r>
            <a:endParaRPr lang="en-US" sz="900" dirty="0"/>
          </a:p>
          <a:p>
            <a:pPr marL="342900" indent="-342900">
              <a:buSzPct val="100000"/>
              <a:buChar char="•"/>
            </a:pPr>
            <a:r>
              <a:rPr lang="en-US" sz="900" dirty="0">
                <a:solidFill>
                  <a:srgbClr val="8B9BAD"/>
                </a:solidFill>
              </a:rPr>
              <a:t>PIP pakar di sudut</a:t>
            </a:r>
            <a:endParaRPr lang="en-US" sz="900" dirty="0"/>
          </a:p>
          <a:p>
            <a:pPr marL="342900" indent="-342900">
              <a:buSzPct val="100000"/>
              <a:buChar char="•"/>
            </a:pPr>
            <a:r>
              <a:rPr lang="en-US" sz="900" dirty="0">
                <a:solidFill>
                  <a:srgbClr val="8B9BAD"/>
                </a:solidFill>
              </a:rPr>
              <a:t>Struktur STAR (Situasi-Tugas-Tindakan-Hasil)</a:t>
            </a:r>
            <a:endParaRPr lang="en-US" sz="900" dirty="0"/>
          </a:p>
          <a:p>
            <a:pPr marL="342900" indent="-342900">
              <a:buSzPct val="100000"/>
              <a:buChar char="•"/>
            </a:pPr>
            <a:r>
              <a:rPr lang="en-US" sz="900" dirty="0">
                <a:solidFill>
                  <a:srgbClr val="8B9BAD"/>
                </a:solidFill>
              </a:rPr>
              <a:t>Sokongan visual wajib</a:t>
            </a:r>
            <a:endParaRPr lang="en-US" sz="900" dirty="0"/>
          </a:p>
        </p:txBody>
      </p:sp>
      <p:sp>
        <p:nvSpPr>
          <p:cNvPr id="16" name="Text 13"/>
          <p:cNvSpPr/>
          <p:nvPr/>
        </p:nvSpPr>
        <p:spPr>
          <a:xfrm>
            <a:off x="5623560" y="3337560"/>
            <a:ext cx="3246120" cy="201168"/>
          </a:xfrm>
          <a:prstGeom prst="rect">
            <a:avLst/>
          </a:prstGeom>
          <a:noFill/>
          <a:ln/>
        </p:spPr>
        <p:txBody>
          <a:bodyPr wrap="square" lIns="0" tIns="0" rIns="0" bIns="0" rtlCol="0" anchor="ctr"/>
          <a:lstStyle/>
          <a:p>
            <a:pPr indent="0" marL="0">
              <a:buNone/>
            </a:pPr>
            <a:r>
              <a:rPr lang="en-US" sz="800" i="1" dirty="0">
                <a:solidFill>
                  <a:srgbClr val="2E5496"/>
                </a:solidFill>
              </a:rPr>
              <a:t>Demo  ·  PIP  ·  Screen-share  ·  STAR</a:t>
            </a:r>
            <a:endParaRPr lang="en-US" sz="800" dirty="0"/>
          </a:p>
        </p:txBody>
      </p:sp>
      <p:sp>
        <p:nvSpPr>
          <p:cNvPr id="17" name="Shape 14"/>
          <p:cNvSpPr/>
          <p:nvPr/>
        </p:nvSpPr>
        <p:spPr>
          <a:xfrm>
            <a:off x="274320" y="3630168"/>
            <a:ext cx="8595360" cy="0"/>
          </a:xfrm>
          <a:prstGeom prst="line">
            <a:avLst/>
          </a:prstGeom>
          <a:noFill/>
          <a:ln w="9525">
            <a:solidFill>
              <a:srgbClr val="2E5496"/>
            </a:solidFill>
            <a:prstDash val="solid"/>
          </a:ln>
        </p:spPr>
      </p:sp>
      <p:sp>
        <p:nvSpPr>
          <p:cNvPr id="18" name="Text 15"/>
          <p:cNvSpPr/>
          <p:nvPr/>
        </p:nvSpPr>
        <p:spPr>
          <a:xfrm>
            <a:off x="274320" y="3739896"/>
            <a:ext cx="1828800" cy="201168"/>
          </a:xfrm>
          <a:prstGeom prst="rect">
            <a:avLst/>
          </a:prstGeom>
          <a:noFill/>
          <a:ln/>
        </p:spPr>
        <p:txBody>
          <a:bodyPr wrap="square" lIns="0" tIns="0" rIns="0" bIns="0" rtlCol="0" anchor="ctr"/>
          <a:lstStyle/>
          <a:p>
            <a:pPr indent="0" marL="0">
              <a:buNone/>
            </a:pPr>
            <a:r>
              <a:rPr lang="en-US" sz="750" b="1" spc="200" kern="0" dirty="0">
                <a:solidFill>
                  <a:srgbClr val="F0A829"/>
                </a:solidFill>
              </a:rPr>
              <a:t>SKRIP DIALOG</a:t>
            </a:r>
            <a:endParaRPr lang="en-US" sz="750" dirty="0"/>
          </a:p>
        </p:txBody>
      </p:sp>
      <p:sp>
        <p:nvSpPr>
          <p:cNvPr id="19" name="Text 16"/>
          <p:cNvSpPr/>
          <p:nvPr/>
        </p:nvSpPr>
        <p:spPr>
          <a:xfrm>
            <a:off x="274320" y="3968496"/>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0" name="Text 17"/>
          <p:cNvSpPr/>
          <p:nvPr/>
        </p:nvSpPr>
        <p:spPr>
          <a:xfrm>
            <a:off x="36576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Boleh kongsikan satu contoh di mana teknologi pendidikan benar-benar berjaya?</a:t>
            </a:r>
            <a:endParaRPr lang="en-US" sz="850" dirty="0"/>
          </a:p>
        </p:txBody>
      </p:sp>
      <p:sp>
        <p:nvSpPr>
          <p:cNvPr id="21" name="Text 18"/>
          <p:cNvSpPr/>
          <p:nvPr/>
        </p:nvSpPr>
        <p:spPr>
          <a:xfrm>
            <a:off x="274320" y="4572000"/>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2" name="Text 19"/>
          <p:cNvSpPr/>
          <p:nvPr/>
        </p:nvSpPr>
        <p:spPr>
          <a:xfrm>
            <a:off x="36576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Apa faktor kejayaannya?</a:t>
            </a:r>
            <a:endParaRPr lang="en-US" sz="850" dirty="0"/>
          </a:p>
        </p:txBody>
      </p:sp>
      <p:sp>
        <p:nvSpPr>
          <p:cNvPr id="23" name="Text 20"/>
          <p:cNvSpPr/>
          <p:nvPr/>
        </p:nvSpPr>
        <p:spPr>
          <a:xfrm>
            <a:off x="4754880" y="3968496"/>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4" name="Text 21"/>
          <p:cNvSpPr/>
          <p:nvPr/>
        </p:nvSpPr>
        <p:spPr>
          <a:xfrm>
            <a:off x="484632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Modul mengesan kerosakan sistem — topik yang pelajar selalu bergelut. Kami perkenalkan persekitaran maya untuk latihan berulang dengan panduan AR. Hasilnya: pelajar datang ke sesi sebenar lebih bersedia dan lebih yakin.</a:t>
            </a:r>
            <a:endParaRPr lang="en-US" sz="850" dirty="0"/>
          </a:p>
        </p:txBody>
      </p:sp>
      <p:sp>
        <p:nvSpPr>
          <p:cNvPr id="25" name="Text 22"/>
          <p:cNvSpPr/>
          <p:nvPr/>
        </p:nvSpPr>
        <p:spPr>
          <a:xfrm>
            <a:off x="4754880" y="4572000"/>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6" name="Text 23"/>
          <p:cNvSpPr/>
          <p:nvPr/>
        </p:nvSpPr>
        <p:spPr>
          <a:xfrm>
            <a:off x="484632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Tiga: diintegrasikan ke kurikulum, pengajar dilatih dan menyokong, dan direka untuk menyelesaikan masalah yang jelas — bukan sekadar kelihatan moden.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164592"/>
            <a:ext cx="1005840" cy="384048"/>
          </a:xfrm>
          <a:prstGeom prst="roundRect">
            <a:avLst>
              <a:gd name="adj" fmla="val 11905"/>
            </a:avLst>
          </a:prstGeom>
          <a:solidFill>
            <a:srgbClr val="1F3864"/>
          </a:solidFill>
          <a:ln w="12700">
            <a:solidFill>
              <a:srgbClr val="2E5496"/>
            </a:solidFill>
            <a:prstDash val="solid"/>
          </a:ln>
        </p:spPr>
      </p:sp>
      <p:sp>
        <p:nvSpPr>
          <p:cNvPr id="3" name="Text 1"/>
          <p:cNvSpPr/>
          <p:nvPr/>
        </p:nvSpPr>
        <p:spPr>
          <a:xfrm>
            <a:off x="274320" y="164592"/>
            <a:ext cx="1005840" cy="384048"/>
          </a:xfrm>
          <a:prstGeom prst="rect">
            <a:avLst/>
          </a:prstGeom>
          <a:noFill/>
          <a:ln/>
        </p:spPr>
        <p:txBody>
          <a:bodyPr wrap="square" lIns="0" tIns="0" rIns="0" bIns="0" rtlCol="0" anchor="ctr"/>
          <a:lstStyle/>
          <a:p>
            <a:pPr algn="ctr" indent="0" marL="0">
              <a:buNone/>
            </a:pPr>
            <a:r>
              <a:rPr lang="en-US" sz="1000" b="1" dirty="0">
                <a:solidFill>
                  <a:srgbClr val="FFFFFF"/>
                </a:solidFill>
              </a:rPr>
              <a:t>SCENE 07</a:t>
            </a:r>
            <a:endParaRPr lang="en-US" sz="1000" dirty="0"/>
          </a:p>
        </p:txBody>
      </p:sp>
      <p:sp>
        <p:nvSpPr>
          <p:cNvPr id="4" name="Text 2"/>
          <p:cNvSpPr/>
          <p:nvPr/>
        </p:nvSpPr>
        <p:spPr>
          <a:xfrm>
            <a:off x="1417320" y="164592"/>
            <a:ext cx="5029200" cy="384048"/>
          </a:xfrm>
          <a:prstGeom prst="rect">
            <a:avLst/>
          </a:prstGeom>
          <a:noFill/>
          <a:ln/>
        </p:spPr>
        <p:txBody>
          <a:bodyPr wrap="square" lIns="0" tIns="0" rIns="0" bIns="0" rtlCol="0" anchor="ctr"/>
          <a:lstStyle/>
          <a:p>
            <a:pPr indent="0" marL="0">
              <a:buNone/>
            </a:pPr>
            <a:r>
              <a:rPr lang="en-US" sz="1800" b="1" dirty="0">
                <a:solidFill>
                  <a:srgbClr val="E8EDF3"/>
                </a:solidFill>
              </a:rPr>
              <a:t>Nasihat &amp; Pandangan</a:t>
            </a:r>
            <a:endParaRPr lang="en-US" sz="1800" dirty="0"/>
          </a:p>
        </p:txBody>
      </p:sp>
      <p:sp>
        <p:nvSpPr>
          <p:cNvPr id="5" name="Shape 3"/>
          <p:cNvSpPr/>
          <p:nvPr/>
        </p:nvSpPr>
        <p:spPr>
          <a:xfrm>
            <a:off x="7772400" y="164592"/>
            <a:ext cx="1097280" cy="384048"/>
          </a:xfrm>
          <a:prstGeom prst="roundRect">
            <a:avLst>
              <a:gd name="adj" fmla="val 11905"/>
            </a:avLst>
          </a:prstGeom>
          <a:solidFill>
            <a:srgbClr val="161B22"/>
          </a:solidFill>
          <a:ln w="12700">
            <a:solidFill>
              <a:srgbClr val="2E5496"/>
            </a:solidFill>
            <a:prstDash val="solid"/>
          </a:ln>
        </p:spPr>
      </p:sp>
      <p:sp>
        <p:nvSpPr>
          <p:cNvPr id="6" name="Text 4"/>
          <p:cNvSpPr/>
          <p:nvPr/>
        </p:nvSpPr>
        <p:spPr>
          <a:xfrm>
            <a:off x="7772400" y="164592"/>
            <a:ext cx="1097280" cy="384048"/>
          </a:xfrm>
          <a:prstGeom prst="rect">
            <a:avLst/>
          </a:prstGeom>
          <a:noFill/>
          <a:ln/>
        </p:spPr>
        <p:txBody>
          <a:bodyPr wrap="square" lIns="0" tIns="0" rIns="0" bIns="0" rtlCol="0" anchor="ctr"/>
          <a:lstStyle/>
          <a:p>
            <a:pPr algn="ctr" indent="0" marL="0">
              <a:buNone/>
            </a:pPr>
            <a:r>
              <a:rPr lang="en-US" sz="900" dirty="0">
                <a:solidFill>
                  <a:srgbClr val="8B9BAD"/>
                </a:solidFill>
              </a:rPr>
              <a:t>52:00 – 57:00</a:t>
            </a:r>
            <a:endParaRPr lang="en-US" sz="900" dirty="0"/>
          </a:p>
        </p:txBody>
      </p:sp>
      <p:pic>
        <p:nvPicPr>
          <p:cNvPr id="7" name="Image 0" descr="preencoded.png">    </p:cNvPr>
          <p:cNvPicPr>
            <a:picLocks noChangeAspect="1"/>
          </p:cNvPicPr>
          <p:nvPr/>
        </p:nvPicPr>
        <p:blipFill>
          <a:blip r:embed="rId1"/>
          <a:stretch>
            <a:fillRect/>
          </a:stretch>
        </p:blipFill>
        <p:spPr>
          <a:xfrm>
            <a:off x="274320" y="658368"/>
            <a:ext cx="5120640" cy="2880360"/>
          </a:xfrm>
          <a:prstGeom prst="rect">
            <a:avLst/>
          </a:prstGeom>
          <a:effectLst>
            <a:outerShdw sx="100000" sy="100000" kx="0" ky="0" algn="bl" rotWithShape="0" blurRad="101600" dist="38100" dir="2700000">
              <a:srgbClr val="000000">
                <a:alpha val="30000"/>
              </a:srgbClr>
            </a:outerShdw>
          </a:effectLst>
        </p:spPr>
      </p:pic>
      <p:sp>
        <p:nvSpPr>
          <p:cNvPr id="8" name="Text 5"/>
          <p:cNvSpPr/>
          <p:nvPr/>
        </p:nvSpPr>
        <p:spPr>
          <a:xfrm>
            <a:off x="5623560" y="658368"/>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SAIZ SYOT</a:t>
            </a:r>
            <a:endParaRPr lang="en-US" sz="750" dirty="0"/>
          </a:p>
        </p:txBody>
      </p:sp>
      <p:sp>
        <p:nvSpPr>
          <p:cNvPr id="9" name="Text 6"/>
          <p:cNvSpPr/>
          <p:nvPr/>
        </p:nvSpPr>
        <p:spPr>
          <a:xfrm>
            <a:off x="5623560" y="841248"/>
            <a:ext cx="3246120" cy="274320"/>
          </a:xfrm>
          <a:prstGeom prst="rect">
            <a:avLst/>
          </a:prstGeom>
          <a:noFill/>
          <a:ln/>
        </p:spPr>
        <p:txBody>
          <a:bodyPr wrap="square" lIns="0" tIns="0" rIns="0" bIns="0" rtlCol="0" anchor="ctr"/>
          <a:lstStyle/>
          <a:p>
            <a:pPr indent="0" marL="0">
              <a:buNone/>
            </a:pPr>
            <a:r>
              <a:rPr lang="en-US" sz="1000" dirty="0">
                <a:solidFill>
                  <a:srgbClr val="E8EDF3"/>
                </a:solidFill>
              </a:rPr>
              <a:t>MCU Pakar (Hangat)</a:t>
            </a:r>
            <a:endParaRPr lang="en-US" sz="1000" dirty="0"/>
          </a:p>
        </p:txBody>
      </p:sp>
      <p:sp>
        <p:nvSpPr>
          <p:cNvPr id="10" name="Text 7"/>
          <p:cNvSpPr/>
          <p:nvPr/>
        </p:nvSpPr>
        <p:spPr>
          <a:xfrm>
            <a:off x="5623560" y="1133856"/>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SUDUT KAMERA</a:t>
            </a:r>
            <a:endParaRPr lang="en-US" sz="750" dirty="0"/>
          </a:p>
        </p:txBody>
      </p:sp>
      <p:sp>
        <p:nvSpPr>
          <p:cNvPr id="11" name="Text 8"/>
          <p:cNvSpPr/>
          <p:nvPr/>
        </p:nvSpPr>
        <p:spPr>
          <a:xfrm>
            <a:off x="5623560" y="1316736"/>
            <a:ext cx="3246120" cy="274320"/>
          </a:xfrm>
          <a:prstGeom prst="rect">
            <a:avLst/>
          </a:prstGeom>
          <a:noFill/>
          <a:ln/>
        </p:spPr>
        <p:txBody>
          <a:bodyPr wrap="square" lIns="0" tIns="0" rIns="0" bIns="0" rtlCol="0" anchor="ctr"/>
          <a:lstStyle/>
          <a:p>
            <a:pPr indent="0" marL="0">
              <a:buNone/>
            </a:pPr>
            <a:r>
              <a:rPr lang="en-US" sz="1000" dirty="0">
                <a:solidFill>
                  <a:srgbClr val="E8EDF3"/>
                </a:solidFill>
              </a:rPr>
              <a:t>Aras mata, sedikit low-angle</a:t>
            </a:r>
            <a:endParaRPr lang="en-US" sz="1000" dirty="0"/>
          </a:p>
        </p:txBody>
      </p:sp>
      <p:sp>
        <p:nvSpPr>
          <p:cNvPr id="12" name="Text 9"/>
          <p:cNvSpPr/>
          <p:nvPr/>
        </p:nvSpPr>
        <p:spPr>
          <a:xfrm>
            <a:off x="5623560" y="1609344"/>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PERGERAKAN</a:t>
            </a:r>
            <a:endParaRPr lang="en-US" sz="750" dirty="0"/>
          </a:p>
        </p:txBody>
      </p:sp>
      <p:sp>
        <p:nvSpPr>
          <p:cNvPr id="13" name="Text 10"/>
          <p:cNvSpPr/>
          <p:nvPr/>
        </p:nvSpPr>
        <p:spPr>
          <a:xfrm>
            <a:off x="5623560" y="1792224"/>
            <a:ext cx="3246120" cy="274320"/>
          </a:xfrm>
          <a:prstGeom prst="rect">
            <a:avLst/>
          </a:prstGeom>
          <a:noFill/>
          <a:ln/>
        </p:spPr>
        <p:txBody>
          <a:bodyPr wrap="square" lIns="0" tIns="0" rIns="0" bIns="0" rtlCol="0" anchor="ctr"/>
          <a:lstStyle/>
          <a:p>
            <a:pPr indent="0" marL="0">
              <a:buNone/>
            </a:pPr>
            <a:r>
              <a:rPr lang="en-US" sz="1000" dirty="0">
                <a:solidFill>
                  <a:srgbClr val="E8EDF3"/>
                </a:solidFill>
              </a:rPr>
              <a:t>Push-in halus</a:t>
            </a:r>
            <a:endParaRPr lang="en-US" sz="1000" dirty="0"/>
          </a:p>
        </p:txBody>
      </p:sp>
      <p:sp>
        <p:nvSpPr>
          <p:cNvPr id="14" name="Text 11"/>
          <p:cNvSpPr/>
          <p:nvPr/>
        </p:nvSpPr>
        <p:spPr>
          <a:xfrm>
            <a:off x="5623560" y="2084832"/>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KOMPOSISI</a:t>
            </a:r>
            <a:endParaRPr lang="en-US" sz="750" dirty="0"/>
          </a:p>
        </p:txBody>
      </p:sp>
      <p:sp>
        <p:nvSpPr>
          <p:cNvPr id="15" name="Text 12"/>
          <p:cNvSpPr/>
          <p:nvPr/>
        </p:nvSpPr>
        <p:spPr>
          <a:xfrm>
            <a:off x="5623560" y="2267712"/>
            <a:ext cx="3246120" cy="1024128"/>
          </a:xfrm>
          <a:prstGeom prst="rect">
            <a:avLst/>
          </a:prstGeom>
          <a:noFill/>
          <a:ln/>
        </p:spPr>
        <p:txBody>
          <a:bodyPr wrap="square" lIns="0" tIns="0" rIns="0" bIns="0" rtlCol="0" anchor="ctr"/>
          <a:lstStyle/>
          <a:p>
            <a:pPr marL="342900" indent="-342900">
              <a:buSzPct val="100000"/>
              <a:buChar char="•"/>
            </a:pPr>
            <a:r>
              <a:rPr lang="en-US" sz="900" dirty="0">
                <a:solidFill>
                  <a:srgbClr val="8B9BAD"/>
                </a:solidFill>
              </a:rPr>
              <a:t>Subjek di tengah/1/3</a:t>
            </a:r>
            <a:endParaRPr lang="en-US" sz="900" dirty="0"/>
          </a:p>
          <a:p>
            <a:pPr marL="342900" indent="-342900">
              <a:buSzPct val="100000"/>
              <a:buChar char="•"/>
            </a:pPr>
            <a:r>
              <a:rPr lang="en-US" sz="900" dirty="0">
                <a:solidFill>
                  <a:srgbClr val="8B9BAD"/>
                </a:solidFill>
              </a:rPr>
              <a:t>Pencahayaan hangat; muzik masuk semula</a:t>
            </a:r>
            <a:endParaRPr lang="en-US" sz="900" dirty="0"/>
          </a:p>
          <a:p>
            <a:pPr marL="342900" indent="-342900">
              <a:buSzPct val="100000"/>
              <a:buChar char="•"/>
            </a:pPr>
            <a:r>
              <a:rPr lang="en-US" sz="900" dirty="0">
                <a:solidFill>
                  <a:srgbClr val="8B9BAD"/>
                </a:solidFill>
              </a:rPr>
              <a:t>Nada motivasi &amp; inspiratif</a:t>
            </a:r>
            <a:endParaRPr lang="en-US" sz="900" dirty="0"/>
          </a:p>
          <a:p>
            <a:pPr marL="342900" indent="-342900">
              <a:buSzPct val="100000"/>
              <a:buChar char="•"/>
            </a:pPr>
            <a:r>
              <a:rPr lang="en-US" sz="900" dirty="0">
                <a:solidFill>
                  <a:srgbClr val="8B9BAD"/>
                </a:solidFill>
              </a:rPr>
              <a:t>Tangkap klip 'satu nasihat' untuk pemasaran</a:t>
            </a:r>
            <a:endParaRPr lang="en-US" sz="900" dirty="0"/>
          </a:p>
        </p:txBody>
      </p:sp>
      <p:sp>
        <p:nvSpPr>
          <p:cNvPr id="16" name="Text 13"/>
          <p:cNvSpPr/>
          <p:nvPr/>
        </p:nvSpPr>
        <p:spPr>
          <a:xfrm>
            <a:off x="5623560" y="3337560"/>
            <a:ext cx="3246120" cy="201168"/>
          </a:xfrm>
          <a:prstGeom prst="rect">
            <a:avLst/>
          </a:prstGeom>
          <a:noFill/>
          <a:ln/>
        </p:spPr>
        <p:txBody>
          <a:bodyPr wrap="square" lIns="0" tIns="0" rIns="0" bIns="0" rtlCol="0" anchor="ctr"/>
          <a:lstStyle/>
          <a:p>
            <a:pPr indent="0" marL="0">
              <a:buNone/>
            </a:pPr>
            <a:r>
              <a:rPr lang="en-US" sz="800" i="1" dirty="0">
                <a:solidFill>
                  <a:srgbClr val="2E5496"/>
                </a:solidFill>
              </a:rPr>
              <a:t>MCU  ·  Hangat  ·  Push-in  ·  Inspiratif</a:t>
            </a:r>
            <a:endParaRPr lang="en-US" sz="800" dirty="0"/>
          </a:p>
        </p:txBody>
      </p:sp>
      <p:sp>
        <p:nvSpPr>
          <p:cNvPr id="17" name="Shape 14"/>
          <p:cNvSpPr/>
          <p:nvPr/>
        </p:nvSpPr>
        <p:spPr>
          <a:xfrm>
            <a:off x="274320" y="3630168"/>
            <a:ext cx="8595360" cy="0"/>
          </a:xfrm>
          <a:prstGeom prst="line">
            <a:avLst/>
          </a:prstGeom>
          <a:noFill/>
          <a:ln w="9525">
            <a:solidFill>
              <a:srgbClr val="2E5496"/>
            </a:solidFill>
            <a:prstDash val="solid"/>
          </a:ln>
        </p:spPr>
      </p:sp>
      <p:sp>
        <p:nvSpPr>
          <p:cNvPr id="18" name="Text 15"/>
          <p:cNvSpPr/>
          <p:nvPr/>
        </p:nvSpPr>
        <p:spPr>
          <a:xfrm>
            <a:off x="274320" y="3739896"/>
            <a:ext cx="1828800" cy="201168"/>
          </a:xfrm>
          <a:prstGeom prst="rect">
            <a:avLst/>
          </a:prstGeom>
          <a:noFill/>
          <a:ln/>
        </p:spPr>
        <p:txBody>
          <a:bodyPr wrap="square" lIns="0" tIns="0" rIns="0" bIns="0" rtlCol="0" anchor="ctr"/>
          <a:lstStyle/>
          <a:p>
            <a:pPr indent="0" marL="0">
              <a:buNone/>
            </a:pPr>
            <a:r>
              <a:rPr lang="en-US" sz="750" b="1" spc="200" kern="0" dirty="0">
                <a:solidFill>
                  <a:srgbClr val="F0A829"/>
                </a:solidFill>
              </a:rPr>
              <a:t>SKRIP DIALOG</a:t>
            </a:r>
            <a:endParaRPr lang="en-US" sz="750" dirty="0"/>
          </a:p>
        </p:txBody>
      </p:sp>
      <p:sp>
        <p:nvSpPr>
          <p:cNvPr id="19" name="Text 16"/>
          <p:cNvSpPr/>
          <p:nvPr/>
        </p:nvSpPr>
        <p:spPr>
          <a:xfrm>
            <a:off x="274320" y="3968496"/>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0" name="Text 17"/>
          <p:cNvSpPr/>
          <p:nvPr/>
        </p:nvSpPr>
        <p:spPr>
          <a:xfrm>
            <a:off x="36576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Satu nasihat — apa yang anda mahu setiap pelajar avionik dengar hari ini?</a:t>
            </a:r>
            <a:endParaRPr lang="en-US" sz="850" dirty="0"/>
          </a:p>
        </p:txBody>
      </p:sp>
      <p:sp>
        <p:nvSpPr>
          <p:cNvPr id="21" name="Text 18"/>
          <p:cNvSpPr/>
          <p:nvPr/>
        </p:nvSpPr>
        <p:spPr>
          <a:xfrm>
            <a:off x="274320" y="4572000"/>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2" name="Text 19"/>
          <p:cNvSpPr/>
          <p:nvPr/>
        </p:nvSpPr>
        <p:spPr>
          <a:xfrm>
            <a:off x="36576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Lima tahun dari sekarang, bagaimana pengajaran avionik akan kelihatan?</a:t>
            </a:r>
            <a:endParaRPr lang="en-US" sz="850" dirty="0"/>
          </a:p>
        </p:txBody>
      </p:sp>
      <p:sp>
        <p:nvSpPr>
          <p:cNvPr id="23" name="Text 20"/>
          <p:cNvSpPr/>
          <p:nvPr/>
        </p:nvSpPr>
        <p:spPr>
          <a:xfrm>
            <a:off x="4754880" y="3968496"/>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4" name="Text 21"/>
          <p:cNvSpPr/>
          <p:nvPr/>
        </p:nvSpPr>
        <p:spPr>
          <a:xfrm>
            <a:off x="484632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Teknologi ialah alat, bukan jalan pintas. Kuasai asas dengan kukuh — asas yang teguh membolehkan anda menyesuaikan diri dengan apa jua teknologi baharu yang datang.</a:t>
            </a:r>
            <a:endParaRPr lang="en-US" sz="850" dirty="0"/>
          </a:p>
        </p:txBody>
      </p:sp>
      <p:sp>
        <p:nvSpPr>
          <p:cNvPr id="25" name="Text 22"/>
          <p:cNvSpPr/>
          <p:nvPr/>
        </p:nvSpPr>
        <p:spPr>
          <a:xfrm>
            <a:off x="4754880" y="4572000"/>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6" name="Text 23"/>
          <p:cNvSpPr/>
          <p:nvPr/>
        </p:nvSpPr>
        <p:spPr>
          <a:xfrm>
            <a:off x="484632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Latihan berbaur menjadi norma. Digital twin dan AR semakin biasa. Tapi peranan mentor manusia tidak akan berubah — kebijaksanaan diwariskan manusia ke manusia.</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164592"/>
            <a:ext cx="1005840" cy="384048"/>
          </a:xfrm>
          <a:prstGeom prst="roundRect">
            <a:avLst>
              <a:gd name="adj" fmla="val 11905"/>
            </a:avLst>
          </a:prstGeom>
          <a:solidFill>
            <a:srgbClr val="1F3864"/>
          </a:solidFill>
          <a:ln w="12700">
            <a:solidFill>
              <a:srgbClr val="2E5496"/>
            </a:solidFill>
            <a:prstDash val="solid"/>
          </a:ln>
        </p:spPr>
      </p:sp>
      <p:sp>
        <p:nvSpPr>
          <p:cNvPr id="3" name="Text 1"/>
          <p:cNvSpPr/>
          <p:nvPr/>
        </p:nvSpPr>
        <p:spPr>
          <a:xfrm>
            <a:off x="274320" y="164592"/>
            <a:ext cx="1005840" cy="384048"/>
          </a:xfrm>
          <a:prstGeom prst="rect">
            <a:avLst/>
          </a:prstGeom>
          <a:noFill/>
          <a:ln/>
        </p:spPr>
        <p:txBody>
          <a:bodyPr wrap="square" lIns="0" tIns="0" rIns="0" bIns="0" rtlCol="0" anchor="ctr"/>
          <a:lstStyle/>
          <a:p>
            <a:pPr algn="ctr" indent="0" marL="0">
              <a:buNone/>
            </a:pPr>
            <a:r>
              <a:rPr lang="en-US" sz="1000" b="1" dirty="0">
                <a:solidFill>
                  <a:srgbClr val="FFFFFF"/>
                </a:solidFill>
              </a:rPr>
              <a:t>SCENE 08</a:t>
            </a:r>
            <a:endParaRPr lang="en-US" sz="1000" dirty="0"/>
          </a:p>
        </p:txBody>
      </p:sp>
      <p:sp>
        <p:nvSpPr>
          <p:cNvPr id="4" name="Text 2"/>
          <p:cNvSpPr/>
          <p:nvPr/>
        </p:nvSpPr>
        <p:spPr>
          <a:xfrm>
            <a:off x="1417320" y="164592"/>
            <a:ext cx="5029200" cy="384048"/>
          </a:xfrm>
          <a:prstGeom prst="rect">
            <a:avLst/>
          </a:prstGeom>
          <a:noFill/>
          <a:ln/>
        </p:spPr>
        <p:txBody>
          <a:bodyPr wrap="square" lIns="0" tIns="0" rIns="0" bIns="0" rtlCol="0" anchor="ctr"/>
          <a:lstStyle/>
          <a:p>
            <a:pPr indent="0" marL="0">
              <a:buNone/>
            </a:pPr>
            <a:r>
              <a:rPr lang="en-US" sz="1800" b="1" dirty="0">
                <a:solidFill>
                  <a:srgbClr val="E8EDF3"/>
                </a:solidFill>
              </a:rPr>
              <a:t>Penutup</a:t>
            </a:r>
            <a:endParaRPr lang="en-US" sz="1800" dirty="0"/>
          </a:p>
        </p:txBody>
      </p:sp>
      <p:sp>
        <p:nvSpPr>
          <p:cNvPr id="5" name="Shape 3"/>
          <p:cNvSpPr/>
          <p:nvPr/>
        </p:nvSpPr>
        <p:spPr>
          <a:xfrm>
            <a:off x="7772400" y="164592"/>
            <a:ext cx="1097280" cy="384048"/>
          </a:xfrm>
          <a:prstGeom prst="roundRect">
            <a:avLst>
              <a:gd name="adj" fmla="val 11905"/>
            </a:avLst>
          </a:prstGeom>
          <a:solidFill>
            <a:srgbClr val="161B22"/>
          </a:solidFill>
          <a:ln w="12700">
            <a:solidFill>
              <a:srgbClr val="2E5496"/>
            </a:solidFill>
            <a:prstDash val="solid"/>
          </a:ln>
        </p:spPr>
      </p:sp>
      <p:sp>
        <p:nvSpPr>
          <p:cNvPr id="6" name="Text 4"/>
          <p:cNvSpPr/>
          <p:nvPr/>
        </p:nvSpPr>
        <p:spPr>
          <a:xfrm>
            <a:off x="7772400" y="164592"/>
            <a:ext cx="1097280" cy="384048"/>
          </a:xfrm>
          <a:prstGeom prst="rect">
            <a:avLst/>
          </a:prstGeom>
          <a:noFill/>
          <a:ln/>
        </p:spPr>
        <p:txBody>
          <a:bodyPr wrap="square" lIns="0" tIns="0" rIns="0" bIns="0" rtlCol="0" anchor="ctr"/>
          <a:lstStyle/>
          <a:p>
            <a:pPr algn="ctr" indent="0" marL="0">
              <a:buNone/>
            </a:pPr>
            <a:r>
              <a:rPr lang="en-US" sz="900" dirty="0">
                <a:solidFill>
                  <a:srgbClr val="8B9BAD"/>
                </a:solidFill>
              </a:rPr>
              <a:t>57:00 – 60:00</a:t>
            </a:r>
            <a:endParaRPr lang="en-US" sz="900" dirty="0"/>
          </a:p>
        </p:txBody>
      </p:sp>
      <p:pic>
        <p:nvPicPr>
          <p:cNvPr id="7" name="Image 0" descr="preencoded.png">    </p:cNvPr>
          <p:cNvPicPr>
            <a:picLocks noChangeAspect="1"/>
          </p:cNvPicPr>
          <p:nvPr/>
        </p:nvPicPr>
        <p:blipFill>
          <a:blip r:embed="rId1"/>
          <a:stretch>
            <a:fillRect/>
          </a:stretch>
        </p:blipFill>
        <p:spPr>
          <a:xfrm>
            <a:off x="274320" y="658368"/>
            <a:ext cx="5120640" cy="2880360"/>
          </a:xfrm>
          <a:prstGeom prst="rect">
            <a:avLst/>
          </a:prstGeom>
          <a:effectLst>
            <a:outerShdw sx="100000" sy="100000" kx="0" ky="0" algn="bl" rotWithShape="0" blurRad="101600" dist="38100" dir="2700000">
              <a:srgbClr val="000000">
                <a:alpha val="30000"/>
              </a:srgbClr>
            </a:outerShdw>
          </a:effectLst>
        </p:spPr>
      </p:pic>
      <p:sp>
        <p:nvSpPr>
          <p:cNvPr id="8" name="Text 5"/>
          <p:cNvSpPr/>
          <p:nvPr/>
        </p:nvSpPr>
        <p:spPr>
          <a:xfrm>
            <a:off x="5623560" y="658368"/>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SAIZ SYOT</a:t>
            </a:r>
            <a:endParaRPr lang="en-US" sz="750" dirty="0"/>
          </a:p>
        </p:txBody>
      </p:sp>
      <p:sp>
        <p:nvSpPr>
          <p:cNvPr id="9" name="Text 6"/>
          <p:cNvSpPr/>
          <p:nvPr/>
        </p:nvSpPr>
        <p:spPr>
          <a:xfrm>
            <a:off x="5623560" y="841248"/>
            <a:ext cx="3246120" cy="274320"/>
          </a:xfrm>
          <a:prstGeom prst="rect">
            <a:avLst/>
          </a:prstGeom>
          <a:noFill/>
          <a:ln/>
        </p:spPr>
        <p:txBody>
          <a:bodyPr wrap="square" lIns="0" tIns="0" rIns="0" bIns="0" rtlCol="0" anchor="ctr"/>
          <a:lstStyle/>
          <a:p>
            <a:pPr indent="0" marL="0">
              <a:buNone/>
            </a:pPr>
            <a:r>
              <a:rPr lang="en-US" sz="1000" dirty="0">
                <a:solidFill>
                  <a:srgbClr val="E8EDF3"/>
                </a:solidFill>
              </a:rPr>
              <a:t>Pull-back Wide Shot (Outro)</a:t>
            </a:r>
            <a:endParaRPr lang="en-US" sz="1000" dirty="0"/>
          </a:p>
        </p:txBody>
      </p:sp>
      <p:sp>
        <p:nvSpPr>
          <p:cNvPr id="10" name="Text 7"/>
          <p:cNvSpPr/>
          <p:nvPr/>
        </p:nvSpPr>
        <p:spPr>
          <a:xfrm>
            <a:off x="5623560" y="1133856"/>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SUDUT KAMERA</a:t>
            </a:r>
            <a:endParaRPr lang="en-US" sz="750" dirty="0"/>
          </a:p>
        </p:txBody>
      </p:sp>
      <p:sp>
        <p:nvSpPr>
          <p:cNvPr id="11" name="Text 8"/>
          <p:cNvSpPr/>
          <p:nvPr/>
        </p:nvSpPr>
        <p:spPr>
          <a:xfrm>
            <a:off x="5623560" y="1316736"/>
            <a:ext cx="3246120" cy="274320"/>
          </a:xfrm>
          <a:prstGeom prst="rect">
            <a:avLst/>
          </a:prstGeom>
          <a:noFill/>
          <a:ln/>
        </p:spPr>
        <p:txBody>
          <a:bodyPr wrap="square" lIns="0" tIns="0" rIns="0" bIns="0" rtlCol="0" anchor="ctr"/>
          <a:lstStyle/>
          <a:p>
            <a:pPr indent="0" marL="0">
              <a:buNone/>
            </a:pPr>
            <a:r>
              <a:rPr lang="en-US" sz="1000" dirty="0">
                <a:solidFill>
                  <a:srgbClr val="E8EDF3"/>
                </a:solidFill>
              </a:rPr>
              <a:t>Aras mata</a:t>
            </a:r>
            <a:endParaRPr lang="en-US" sz="1000" dirty="0"/>
          </a:p>
        </p:txBody>
      </p:sp>
      <p:sp>
        <p:nvSpPr>
          <p:cNvPr id="12" name="Text 9"/>
          <p:cNvSpPr/>
          <p:nvPr/>
        </p:nvSpPr>
        <p:spPr>
          <a:xfrm>
            <a:off x="5623560" y="1609344"/>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PERGERAKAN</a:t>
            </a:r>
            <a:endParaRPr lang="en-US" sz="750" dirty="0"/>
          </a:p>
        </p:txBody>
      </p:sp>
      <p:sp>
        <p:nvSpPr>
          <p:cNvPr id="13" name="Text 10"/>
          <p:cNvSpPr/>
          <p:nvPr/>
        </p:nvSpPr>
        <p:spPr>
          <a:xfrm>
            <a:off x="5623560" y="1792224"/>
            <a:ext cx="3246120" cy="274320"/>
          </a:xfrm>
          <a:prstGeom prst="rect">
            <a:avLst/>
          </a:prstGeom>
          <a:noFill/>
          <a:ln/>
        </p:spPr>
        <p:txBody>
          <a:bodyPr wrap="square" lIns="0" tIns="0" rIns="0" bIns="0" rtlCol="0" anchor="ctr"/>
          <a:lstStyle/>
          <a:p>
            <a:pPr indent="0" marL="0">
              <a:buNone/>
            </a:pPr>
            <a:r>
              <a:rPr lang="en-US" sz="1000" dirty="0">
                <a:solidFill>
                  <a:srgbClr val="E8EDF3"/>
                </a:solidFill>
              </a:rPr>
              <a:t>Dolly-out ke wide; end cards masuk</a:t>
            </a:r>
            <a:endParaRPr lang="en-US" sz="1000" dirty="0"/>
          </a:p>
        </p:txBody>
      </p:sp>
      <p:sp>
        <p:nvSpPr>
          <p:cNvPr id="14" name="Text 11"/>
          <p:cNvSpPr/>
          <p:nvPr/>
        </p:nvSpPr>
        <p:spPr>
          <a:xfrm>
            <a:off x="5623560" y="2084832"/>
            <a:ext cx="3246120" cy="182880"/>
          </a:xfrm>
          <a:prstGeom prst="rect">
            <a:avLst/>
          </a:prstGeom>
          <a:noFill/>
          <a:ln/>
        </p:spPr>
        <p:txBody>
          <a:bodyPr wrap="square" lIns="0" tIns="0" rIns="0" bIns="0" rtlCol="0" anchor="ctr"/>
          <a:lstStyle/>
          <a:p>
            <a:pPr indent="0" marL="0">
              <a:buNone/>
            </a:pPr>
            <a:r>
              <a:rPr lang="en-US" sz="750" b="1" spc="200" kern="0" dirty="0">
                <a:solidFill>
                  <a:srgbClr val="F0A829"/>
                </a:solidFill>
              </a:rPr>
              <a:t>KOMPOSISI</a:t>
            </a:r>
            <a:endParaRPr lang="en-US" sz="750" dirty="0"/>
          </a:p>
        </p:txBody>
      </p:sp>
      <p:sp>
        <p:nvSpPr>
          <p:cNvPr id="15" name="Text 12"/>
          <p:cNvSpPr/>
          <p:nvPr/>
        </p:nvSpPr>
        <p:spPr>
          <a:xfrm>
            <a:off x="5623560" y="2267712"/>
            <a:ext cx="3246120" cy="1024128"/>
          </a:xfrm>
          <a:prstGeom prst="rect">
            <a:avLst/>
          </a:prstGeom>
          <a:noFill/>
          <a:ln/>
        </p:spPr>
        <p:txBody>
          <a:bodyPr wrap="square" lIns="0" tIns="0" rIns="0" bIns="0" rtlCol="0" anchor="ctr"/>
          <a:lstStyle/>
          <a:p>
            <a:pPr marL="342900" indent="-342900">
              <a:buSzPct val="100000"/>
              <a:buChar char="•"/>
            </a:pPr>
            <a:r>
              <a:rPr lang="en-US" sz="900" dirty="0">
                <a:solidFill>
                  <a:srgbClr val="8B9BAD"/>
                </a:solidFill>
              </a:rPr>
              <a:t>Simetri kedua-dua hos</a:t>
            </a:r>
            <a:endParaRPr lang="en-US" sz="900" dirty="0"/>
          </a:p>
          <a:p>
            <a:pPr marL="342900" indent="-342900">
              <a:buSzPct val="100000"/>
              <a:buChar char="•"/>
            </a:pPr>
            <a:r>
              <a:rPr lang="en-US" sz="900" dirty="0">
                <a:solidFill>
                  <a:srgbClr val="8B9BAD"/>
                </a:solidFill>
              </a:rPr>
              <a:t>CTA lower-third + butang langgan</a:t>
            </a:r>
            <a:endParaRPr lang="en-US" sz="900" dirty="0"/>
          </a:p>
          <a:p>
            <a:pPr marL="342900" indent="-342900">
              <a:buSzPct val="100000"/>
              <a:buChar char="•"/>
            </a:pPr>
            <a:r>
              <a:rPr lang="en-US" sz="900" dirty="0">
                <a:solidFill>
                  <a:srgbClr val="8B9BAD"/>
                </a:solidFill>
              </a:rPr>
              <a:t>Ruang untuk end-card</a:t>
            </a:r>
            <a:endParaRPr lang="en-US" sz="900" dirty="0"/>
          </a:p>
          <a:p>
            <a:pPr marL="342900" indent="-342900">
              <a:buSzPct val="100000"/>
              <a:buChar char="•"/>
            </a:pPr>
            <a:r>
              <a:rPr lang="en-US" sz="900" dirty="0">
                <a:solidFill>
                  <a:srgbClr val="8B9BAD"/>
                </a:solidFill>
              </a:rPr>
              <a:t>Muzik outro naik penuh</a:t>
            </a:r>
            <a:endParaRPr lang="en-US" sz="900" dirty="0"/>
          </a:p>
        </p:txBody>
      </p:sp>
      <p:sp>
        <p:nvSpPr>
          <p:cNvPr id="16" name="Text 13"/>
          <p:cNvSpPr/>
          <p:nvPr/>
        </p:nvSpPr>
        <p:spPr>
          <a:xfrm>
            <a:off x="5623560" y="3337560"/>
            <a:ext cx="3246120" cy="201168"/>
          </a:xfrm>
          <a:prstGeom prst="rect">
            <a:avLst/>
          </a:prstGeom>
          <a:noFill/>
          <a:ln/>
        </p:spPr>
        <p:txBody>
          <a:bodyPr wrap="square" lIns="0" tIns="0" rIns="0" bIns="0" rtlCol="0" anchor="ctr"/>
          <a:lstStyle/>
          <a:p>
            <a:pPr indent="0" marL="0">
              <a:buNone/>
            </a:pPr>
            <a:r>
              <a:rPr lang="en-US" sz="800" i="1" dirty="0">
                <a:solidFill>
                  <a:srgbClr val="2E5496"/>
                </a:solidFill>
              </a:rPr>
              <a:t>Wide  ·  Dolly-out  ·  CTA  ·  End cards</a:t>
            </a:r>
            <a:endParaRPr lang="en-US" sz="800" dirty="0"/>
          </a:p>
        </p:txBody>
      </p:sp>
      <p:sp>
        <p:nvSpPr>
          <p:cNvPr id="17" name="Shape 14"/>
          <p:cNvSpPr/>
          <p:nvPr/>
        </p:nvSpPr>
        <p:spPr>
          <a:xfrm>
            <a:off x="274320" y="3630168"/>
            <a:ext cx="8595360" cy="0"/>
          </a:xfrm>
          <a:prstGeom prst="line">
            <a:avLst/>
          </a:prstGeom>
          <a:noFill/>
          <a:ln w="9525">
            <a:solidFill>
              <a:srgbClr val="2E5496"/>
            </a:solidFill>
            <a:prstDash val="solid"/>
          </a:ln>
        </p:spPr>
      </p:sp>
      <p:sp>
        <p:nvSpPr>
          <p:cNvPr id="18" name="Text 15"/>
          <p:cNvSpPr/>
          <p:nvPr/>
        </p:nvSpPr>
        <p:spPr>
          <a:xfrm>
            <a:off x="274320" y="3739896"/>
            <a:ext cx="1828800" cy="201168"/>
          </a:xfrm>
          <a:prstGeom prst="rect">
            <a:avLst/>
          </a:prstGeom>
          <a:noFill/>
          <a:ln/>
        </p:spPr>
        <p:txBody>
          <a:bodyPr wrap="square" lIns="0" tIns="0" rIns="0" bIns="0" rtlCol="0" anchor="ctr"/>
          <a:lstStyle/>
          <a:p>
            <a:pPr indent="0" marL="0">
              <a:buNone/>
            </a:pPr>
            <a:r>
              <a:rPr lang="en-US" sz="750" b="1" spc="200" kern="0" dirty="0">
                <a:solidFill>
                  <a:srgbClr val="F0A829"/>
                </a:solidFill>
              </a:rPr>
              <a:t>SKRIP DIALOG</a:t>
            </a:r>
            <a:endParaRPr lang="en-US" sz="750" dirty="0"/>
          </a:p>
        </p:txBody>
      </p:sp>
      <p:sp>
        <p:nvSpPr>
          <p:cNvPr id="19" name="Text 16"/>
          <p:cNvSpPr/>
          <p:nvPr/>
        </p:nvSpPr>
        <p:spPr>
          <a:xfrm>
            <a:off x="274320" y="3968496"/>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0" name="Text 17"/>
          <p:cNvSpPr/>
          <p:nvPr/>
        </p:nvSpPr>
        <p:spPr>
          <a:xfrm>
            <a:off x="36576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Tiga perkara yang saya harap anda bawa pulang: teknologi pendidikan adalah cara berfikir baharu; cabaran boleh diatasi dengan langkah berperingkat; dan contoh kejayaan sudah wujud.</a:t>
            </a:r>
            <a:endParaRPr lang="en-US" sz="850" dirty="0"/>
          </a:p>
        </p:txBody>
      </p:sp>
      <p:sp>
        <p:nvSpPr>
          <p:cNvPr id="21" name="Text 18"/>
          <p:cNvSpPr/>
          <p:nvPr/>
        </p:nvSpPr>
        <p:spPr>
          <a:xfrm>
            <a:off x="274320" y="4572000"/>
            <a:ext cx="4297680" cy="164592"/>
          </a:xfrm>
          <a:prstGeom prst="rect">
            <a:avLst/>
          </a:prstGeom>
          <a:noFill/>
          <a:ln/>
        </p:spPr>
        <p:txBody>
          <a:bodyPr wrap="square" lIns="0" tIns="0" rIns="0" bIns="0" rtlCol="0" anchor="ctr"/>
          <a:lstStyle/>
          <a:p>
            <a:pPr indent="0" marL="0">
              <a:buNone/>
            </a:pPr>
            <a:r>
              <a:rPr lang="en-US" sz="800" b="1" dirty="0">
                <a:solidFill>
                  <a:srgbClr val="2FB6A0"/>
                </a:solidFill>
              </a:rPr>
              <a:t>PAKAR:</a:t>
            </a:r>
            <a:endParaRPr lang="en-US" sz="800" dirty="0"/>
          </a:p>
        </p:txBody>
      </p:sp>
      <p:sp>
        <p:nvSpPr>
          <p:cNvPr id="22" name="Text 19"/>
          <p:cNvSpPr/>
          <p:nvPr/>
        </p:nvSpPr>
        <p:spPr>
          <a:xfrm>
            <a:off x="36576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Terima kasih. Mulakan langkah kecil itu hari ini, jangan tangguh.</a:t>
            </a:r>
            <a:endParaRPr lang="en-US" sz="850" dirty="0"/>
          </a:p>
        </p:txBody>
      </p:sp>
      <p:sp>
        <p:nvSpPr>
          <p:cNvPr id="23" name="Text 20"/>
          <p:cNvSpPr/>
          <p:nvPr/>
        </p:nvSpPr>
        <p:spPr>
          <a:xfrm>
            <a:off x="4754880" y="3968496"/>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4" name="Text 21"/>
          <p:cNvSpPr/>
          <p:nvPr/>
        </p:nvSpPr>
        <p:spPr>
          <a:xfrm>
            <a:off x="4846320" y="4133088"/>
            <a:ext cx="4206240" cy="384048"/>
          </a:xfrm>
          <a:prstGeom prst="rect">
            <a:avLst/>
          </a:prstGeom>
          <a:noFill/>
          <a:ln/>
        </p:spPr>
        <p:txBody>
          <a:bodyPr wrap="square" lIns="0" tIns="0" rIns="0" bIns="0" rtlCol="0" anchor="ctr"/>
          <a:lstStyle/>
          <a:p>
            <a:pPr indent="0" marL="0">
              <a:buNone/>
            </a:pPr>
            <a:r>
              <a:rPr lang="en-US" sz="850" dirty="0">
                <a:solidFill>
                  <a:srgbClr val="E8EDF3"/>
                </a:solidFill>
              </a:rPr>
              <a:t>Terima kasih kepada tetamu kita atas perkongsian yang jujur dan mendalam.</a:t>
            </a:r>
            <a:endParaRPr lang="en-US" sz="850" dirty="0"/>
          </a:p>
        </p:txBody>
      </p:sp>
      <p:sp>
        <p:nvSpPr>
          <p:cNvPr id="25" name="Text 22"/>
          <p:cNvSpPr/>
          <p:nvPr/>
        </p:nvSpPr>
        <p:spPr>
          <a:xfrm>
            <a:off x="4754880" y="4572000"/>
            <a:ext cx="4297680" cy="164592"/>
          </a:xfrm>
          <a:prstGeom prst="rect">
            <a:avLst/>
          </a:prstGeom>
          <a:noFill/>
          <a:ln/>
        </p:spPr>
        <p:txBody>
          <a:bodyPr wrap="square" lIns="0" tIns="0" rIns="0" bIns="0" rtlCol="0" anchor="ctr"/>
          <a:lstStyle/>
          <a:p>
            <a:pPr indent="0" marL="0">
              <a:buNone/>
            </a:pPr>
            <a:r>
              <a:rPr lang="en-US" sz="800" b="1" dirty="0">
                <a:solidFill>
                  <a:srgbClr val="C8861E"/>
                </a:solidFill>
              </a:rPr>
              <a:t>MODERATOR:</a:t>
            </a:r>
            <a:endParaRPr lang="en-US" sz="800" dirty="0"/>
          </a:p>
        </p:txBody>
      </p:sp>
      <p:sp>
        <p:nvSpPr>
          <p:cNvPr id="26" name="Text 23"/>
          <p:cNvSpPr/>
          <p:nvPr/>
        </p:nvSpPr>
        <p:spPr>
          <a:xfrm>
            <a:off x="4846320" y="4736592"/>
            <a:ext cx="4206240" cy="384048"/>
          </a:xfrm>
          <a:prstGeom prst="rect">
            <a:avLst/>
          </a:prstGeom>
          <a:noFill/>
          <a:ln/>
        </p:spPr>
        <p:txBody>
          <a:bodyPr wrap="square" lIns="0" tIns="0" rIns="0" bIns="0" rtlCol="0" anchor="ctr"/>
          <a:lstStyle/>
          <a:p>
            <a:pPr indent="0" marL="0">
              <a:buNone/>
            </a:pPr>
            <a:r>
              <a:rPr lang="en-US" sz="850" dirty="0">
                <a:solidFill>
                  <a:srgbClr val="E8EDF3"/>
                </a:solidFill>
              </a:rPr>
              <a:t>Langgan podcast ini, kongsikan dengan rakan sekerja, dan semak nota tunjuk. Sehingga bertemu lagi — teruskan belajar, teruskan terbang tinggi!</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Storyboard Podcast EduTech Avionik</dc:title>
  <dc:subject>PptxGenJS Presentation</dc:subject>
  <dc:creator>GGGP6223 UKM</dc:creator>
  <cp:lastModifiedBy>GGGP6223 UKM</cp:lastModifiedBy>
  <cp:revision>1</cp:revision>
  <dcterms:created xsi:type="dcterms:W3CDTF">2026-06-19T07:27:21Z</dcterms:created>
  <dcterms:modified xsi:type="dcterms:W3CDTF">2026-06-19T07:27:21Z</dcterms:modified>
</cp:coreProperties>
</file>